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1.jpeg" ContentType="image/jpeg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" name="Shape 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Welcome everyone! I'm Abdullah Al Bashit. This session will give you the tools to automate your data analysis — beginner-friendly, no prior Python experience needed.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" name="Shape 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Here's our roadmap. By the end, you'll know how to batch process files, create interactive visualizations, and export publication-ready results.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Shape 11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4" name="Shape 11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Five big reasons. Free, massive ecosystem, readable, reproducible, industry-standard.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Four options. JupyterLab and Colab recommended for beginners. Note the logos next to each tool name.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3" name="Shape 18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Anatomy of a Python program. Each annotation shows the concept AND the actual syntax in an equation-style callout.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5" name="Shape 2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Six packages with their logos. Pandas is the most important for daily research work.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Shape 2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3" name="Shape 2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qPCR measures gene expression. Note the equation callouts showing the key formulas.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Shape 2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0" name="Shape 2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Always visualize first. Real data from your experiment is shown.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Shape 3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3" name="Shape 3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Expanded data table showing one condition with all replicates. Red bracket = technical replicates (same RNA, same probe, duplicate wells). Navy bracket = same RNA, different probe. Gold bracket = biological replicates (different dishes). Column arrows explain what each column represents.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Shape 3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8" name="Shape 3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ΔΔCt method with equation callouts mapping each code line to its math. 2025 SOP update included.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Shape 38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87" name="Shape 38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Summary table with real data. Note the prominent SEM equation box.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Shape 3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9" name="Shape 3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Statistical tests with formula callouts. t-test formula, significance thresholds, and extreme values.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.jpe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6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Text 5"/>
          <p:cNvSpPr txBox="1"/>
          <p:nvPr/>
        </p:nvSpPr>
        <p:spPr>
          <a:xfrm>
            <a:off x="502919" y="1533651"/>
            <a:ext cx="6583682" cy="11846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12000"/>
              </a:lnSpc>
              <a:defRPr b="1" sz="38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Python for Data Analysis </a:t>
            </a:r>
          </a:p>
          <a:p>
            <a:pPr>
              <a:lnSpc>
                <a:spcPct val="112000"/>
              </a:lnSpc>
              <a:defRPr b="1" sz="38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&amp; Automation</a:t>
            </a:r>
          </a:p>
        </p:txBody>
      </p:sp>
      <p:sp>
        <p:nvSpPr>
          <p:cNvPr id="22" name="Shape 6"/>
          <p:cNvSpPr/>
          <p:nvPr/>
        </p:nvSpPr>
        <p:spPr>
          <a:xfrm>
            <a:off x="502919" y="2926079"/>
            <a:ext cx="1463041" cy="50293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Shape 7"/>
          <p:cNvSpPr/>
          <p:nvPr/>
        </p:nvSpPr>
        <p:spPr>
          <a:xfrm>
            <a:off x="2057400" y="2926079"/>
            <a:ext cx="640081" cy="50293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Text 8"/>
          <p:cNvSpPr txBox="1"/>
          <p:nvPr/>
        </p:nvSpPr>
        <p:spPr>
          <a:xfrm>
            <a:off x="492476" y="3091500"/>
            <a:ext cx="64008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500">
                <a:solidFill>
                  <a:srgbClr val="8A8279"/>
                </a:solidFill>
              </a:defRPr>
            </a:lvl1pPr>
          </a:lstStyle>
          <a:p>
            <a:pPr/>
            <a:r>
              <a:t>A hands-on introduction for bioengineering researchers</a:t>
            </a:r>
          </a:p>
        </p:txBody>
      </p:sp>
      <p:sp>
        <p:nvSpPr>
          <p:cNvPr id="25" name="Text 9"/>
          <p:cNvSpPr txBox="1"/>
          <p:nvPr/>
        </p:nvSpPr>
        <p:spPr>
          <a:xfrm>
            <a:off x="502919" y="3651249"/>
            <a:ext cx="45720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b="1" sz="16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Abdullah Al Bashit, </a:t>
            </a:r>
            <a:r>
              <a:rPr i="1"/>
              <a:t>PhD</a:t>
            </a:r>
          </a:p>
        </p:txBody>
      </p:sp>
      <p:sp>
        <p:nvSpPr>
          <p:cNvPr id="26" name="Text 10"/>
          <p:cNvSpPr txBox="1"/>
          <p:nvPr/>
        </p:nvSpPr>
        <p:spPr>
          <a:xfrm>
            <a:off x="502919" y="3939361"/>
            <a:ext cx="4572001" cy="5584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5000"/>
              </a:lnSpc>
              <a:defRPr sz="1100">
                <a:solidFill>
                  <a:srgbClr val="8A8279"/>
                </a:solidFill>
              </a:defRPr>
            </a:pPr>
            <a:r>
              <a:t>Postdoctoral Research Associate</a:t>
            </a:r>
          </a:p>
          <a:p>
            <a:pPr>
              <a:lnSpc>
                <a:spcPct val="135000"/>
              </a:lnSpc>
              <a:defRPr sz="1100">
                <a:solidFill>
                  <a:srgbClr val="8A8279"/>
                </a:solidFill>
              </a:defRPr>
            </a:pPr>
            <a:r>
              <a:t>Department of Bioengineering</a:t>
            </a:r>
          </a:p>
          <a:p>
            <a:pPr>
              <a:lnSpc>
                <a:spcPct val="135000"/>
              </a:lnSpc>
              <a:defRPr sz="1100">
                <a:solidFill>
                  <a:srgbClr val="8A8279"/>
                </a:solidFill>
              </a:defRPr>
            </a:pPr>
            <a:r>
              <a:t>Northeastern University, Boston, MA, USA</a:t>
            </a:r>
          </a:p>
        </p:txBody>
      </p:sp>
      <p:sp>
        <p:nvSpPr>
          <p:cNvPr id="27" name="Shape 11"/>
          <p:cNvSpPr/>
          <p:nvPr/>
        </p:nvSpPr>
        <p:spPr>
          <a:xfrm>
            <a:off x="0" y="4983479"/>
            <a:ext cx="9144000" cy="160021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8" name="Picture 16" descr="Picture 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084825" y="361054"/>
            <a:ext cx="1874644" cy="989907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Text 10"/>
          <p:cNvSpPr txBox="1"/>
          <p:nvPr/>
        </p:nvSpPr>
        <p:spPr>
          <a:xfrm>
            <a:off x="4100758" y="4825491"/>
            <a:ext cx="1084657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300">
                <a:solidFill>
                  <a:srgbClr val="8A8279"/>
                </a:solidFill>
              </a:defRPr>
            </a:lvl1pPr>
          </a:lstStyle>
          <a:p>
            <a:pPr/>
            <a:r>
              <a:t>March 27, 2026</a:t>
            </a:r>
          </a:p>
        </p:txBody>
      </p:sp>
      <p:pic>
        <p:nvPicPr>
          <p:cNvPr id="30" name="unknown.jpeg" descr="unknown.jpe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61762" y="346194"/>
            <a:ext cx="2825594" cy="989907"/>
          </a:xfrm>
          <a:prstGeom prst="rect">
            <a:avLst/>
          </a:prstGeom>
          <a:ln w="12700">
            <a:miter lim="400000"/>
          </a:ln>
        </p:spPr>
      </p:pic>
      <p:sp>
        <p:nvSpPr>
          <p:cNvPr id="31" name="Text"/>
          <p:cNvSpPr txBox="1"/>
          <p:nvPr/>
        </p:nvSpPr>
        <p:spPr>
          <a:xfrm>
            <a:off x="-6415725" y="346194"/>
            <a:ext cx="1422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pPr/>
            <a:r>
              <a:t>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Agenda</a:t>
            </a:r>
          </a:p>
        </p:txBody>
      </p:sp>
      <p:sp>
        <p:nvSpPr>
          <p:cNvPr id="38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40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41" name="Text 8"/>
          <p:cNvSpPr txBox="1"/>
          <p:nvPr/>
        </p:nvSpPr>
        <p:spPr>
          <a:xfrm>
            <a:off x="535939" y="1282699"/>
            <a:ext cx="1645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1</a:t>
            </a:r>
          </a:p>
        </p:txBody>
      </p:sp>
      <p:pic>
        <p:nvPicPr>
          <p:cNvPr id="42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01700" y="1254760"/>
            <a:ext cx="237744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3" name="Text 9"/>
          <p:cNvSpPr txBox="1"/>
          <p:nvPr/>
        </p:nvSpPr>
        <p:spPr>
          <a:xfrm>
            <a:off x="1267460" y="1289303"/>
            <a:ext cx="3200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Why Python?</a:t>
            </a:r>
          </a:p>
        </p:txBody>
      </p:sp>
      <p:sp>
        <p:nvSpPr>
          <p:cNvPr id="44" name="Text 10"/>
          <p:cNvSpPr txBox="1"/>
          <p:nvPr/>
        </p:nvSpPr>
        <p:spPr>
          <a:xfrm>
            <a:off x="4650740" y="1309668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Motivation &amp; advantages</a:t>
            </a:r>
          </a:p>
        </p:txBody>
      </p:sp>
      <p:sp>
        <p:nvSpPr>
          <p:cNvPr id="45" name="Shape 11"/>
          <p:cNvSpPr/>
          <p:nvPr/>
        </p:nvSpPr>
        <p:spPr>
          <a:xfrm>
            <a:off x="490220" y="1589480"/>
            <a:ext cx="8138160" cy="12701"/>
          </a:xfrm>
          <a:prstGeom prst="rect">
            <a:avLst/>
          </a:prstGeom>
          <a:solidFill>
            <a:srgbClr val="DDD9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3"/>
          <p:cNvSpPr txBox="1"/>
          <p:nvPr/>
        </p:nvSpPr>
        <p:spPr>
          <a:xfrm>
            <a:off x="535939" y="1685035"/>
            <a:ext cx="1645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47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901700" y="1657096"/>
            <a:ext cx="237744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Text 14"/>
          <p:cNvSpPr txBox="1"/>
          <p:nvPr/>
        </p:nvSpPr>
        <p:spPr>
          <a:xfrm>
            <a:off x="1267460" y="1691639"/>
            <a:ext cx="3200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Getting Started</a:t>
            </a:r>
          </a:p>
        </p:txBody>
      </p:sp>
      <p:sp>
        <p:nvSpPr>
          <p:cNvPr id="49" name="Text 15"/>
          <p:cNvSpPr txBox="1"/>
          <p:nvPr/>
        </p:nvSpPr>
        <p:spPr>
          <a:xfrm>
            <a:off x="4650740" y="1712004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Environments &amp; tools</a:t>
            </a:r>
          </a:p>
        </p:txBody>
      </p:sp>
      <p:sp>
        <p:nvSpPr>
          <p:cNvPr id="50" name="Shape 16"/>
          <p:cNvSpPr/>
          <p:nvPr/>
        </p:nvSpPr>
        <p:spPr>
          <a:xfrm>
            <a:off x="490220" y="1991816"/>
            <a:ext cx="8138160" cy="12701"/>
          </a:xfrm>
          <a:prstGeom prst="rect">
            <a:avLst/>
          </a:prstGeom>
          <a:solidFill>
            <a:srgbClr val="DDD9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1" name="Text 18"/>
          <p:cNvSpPr txBox="1"/>
          <p:nvPr/>
        </p:nvSpPr>
        <p:spPr>
          <a:xfrm>
            <a:off x="535939" y="2087372"/>
            <a:ext cx="1645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52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01700" y="2059432"/>
            <a:ext cx="237744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Text 19"/>
          <p:cNvSpPr txBox="1"/>
          <p:nvPr/>
        </p:nvSpPr>
        <p:spPr>
          <a:xfrm>
            <a:off x="1267460" y="2093976"/>
            <a:ext cx="3200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Python Basics</a:t>
            </a:r>
          </a:p>
        </p:txBody>
      </p:sp>
      <p:sp>
        <p:nvSpPr>
          <p:cNvPr id="54" name="Text 20"/>
          <p:cNvSpPr txBox="1"/>
          <p:nvPr/>
        </p:nvSpPr>
        <p:spPr>
          <a:xfrm>
            <a:off x="4650740" y="2114340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Variables, functions, packages</a:t>
            </a:r>
          </a:p>
        </p:txBody>
      </p:sp>
      <p:sp>
        <p:nvSpPr>
          <p:cNvPr id="55" name="Shape 21"/>
          <p:cNvSpPr/>
          <p:nvPr/>
        </p:nvSpPr>
        <p:spPr>
          <a:xfrm>
            <a:off x="490220" y="2394153"/>
            <a:ext cx="8138160" cy="12701"/>
          </a:xfrm>
          <a:prstGeom prst="rect">
            <a:avLst/>
          </a:prstGeom>
          <a:solidFill>
            <a:srgbClr val="DDD9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23"/>
          <p:cNvSpPr txBox="1"/>
          <p:nvPr/>
        </p:nvSpPr>
        <p:spPr>
          <a:xfrm>
            <a:off x="535939" y="2489707"/>
            <a:ext cx="1645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4</a:t>
            </a:r>
          </a:p>
        </p:txBody>
      </p:sp>
      <p:pic>
        <p:nvPicPr>
          <p:cNvPr id="57" name="Image 3" descr="Image 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5608" y="2864104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Text 24"/>
          <p:cNvSpPr txBox="1"/>
          <p:nvPr/>
        </p:nvSpPr>
        <p:spPr>
          <a:xfrm>
            <a:off x="1261368" y="2898648"/>
            <a:ext cx="3200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File Processing</a:t>
            </a:r>
          </a:p>
        </p:txBody>
      </p:sp>
      <p:sp>
        <p:nvSpPr>
          <p:cNvPr id="59" name="Text 25"/>
          <p:cNvSpPr txBox="1"/>
          <p:nvPr/>
        </p:nvSpPr>
        <p:spPr>
          <a:xfrm>
            <a:off x="4644648" y="2919012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Read, analyze, write with Pandas</a:t>
            </a:r>
          </a:p>
        </p:txBody>
      </p:sp>
      <p:sp>
        <p:nvSpPr>
          <p:cNvPr id="60" name="Shape 26"/>
          <p:cNvSpPr/>
          <p:nvPr/>
        </p:nvSpPr>
        <p:spPr>
          <a:xfrm>
            <a:off x="490220" y="2796488"/>
            <a:ext cx="8138160" cy="12701"/>
          </a:xfrm>
          <a:prstGeom prst="rect">
            <a:avLst/>
          </a:prstGeom>
          <a:solidFill>
            <a:srgbClr val="DDD9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1" name="Text 28"/>
          <p:cNvSpPr txBox="1"/>
          <p:nvPr/>
        </p:nvSpPr>
        <p:spPr>
          <a:xfrm>
            <a:off x="535939" y="2892044"/>
            <a:ext cx="1645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5</a:t>
            </a:r>
          </a:p>
        </p:txBody>
      </p:sp>
      <p:pic>
        <p:nvPicPr>
          <p:cNvPr id="62" name="Image 4" descr="Image 4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95608" y="3266440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ext 29"/>
          <p:cNvSpPr txBox="1"/>
          <p:nvPr/>
        </p:nvSpPr>
        <p:spPr>
          <a:xfrm>
            <a:off x="1261368" y="3300983"/>
            <a:ext cx="3200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Data Visualization &amp; QC</a:t>
            </a:r>
          </a:p>
        </p:txBody>
      </p:sp>
      <p:sp>
        <p:nvSpPr>
          <p:cNvPr id="64" name="Text 30"/>
          <p:cNvSpPr txBox="1"/>
          <p:nvPr/>
        </p:nvSpPr>
        <p:spPr>
          <a:xfrm>
            <a:off x="4644648" y="3321348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Matplotlib &amp; quality control</a:t>
            </a:r>
          </a:p>
        </p:txBody>
      </p:sp>
      <p:sp>
        <p:nvSpPr>
          <p:cNvPr id="65" name="Shape 31"/>
          <p:cNvSpPr/>
          <p:nvPr/>
        </p:nvSpPr>
        <p:spPr>
          <a:xfrm>
            <a:off x="490220" y="3198825"/>
            <a:ext cx="8138160" cy="12701"/>
          </a:xfrm>
          <a:prstGeom prst="rect">
            <a:avLst/>
          </a:prstGeom>
          <a:solidFill>
            <a:srgbClr val="DDD9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ext 33"/>
          <p:cNvSpPr txBox="1"/>
          <p:nvPr/>
        </p:nvSpPr>
        <p:spPr>
          <a:xfrm>
            <a:off x="535939" y="3294379"/>
            <a:ext cx="1645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67" name="Image 5" descr="Image 5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95608" y="2469108"/>
            <a:ext cx="237745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68" name="Text 34"/>
          <p:cNvSpPr txBox="1"/>
          <p:nvPr/>
        </p:nvSpPr>
        <p:spPr>
          <a:xfrm>
            <a:off x="1261368" y="2503652"/>
            <a:ext cx="3200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Case Study: qPCR Pipeline</a:t>
            </a:r>
          </a:p>
        </p:txBody>
      </p:sp>
      <p:sp>
        <p:nvSpPr>
          <p:cNvPr id="69" name="Text 35"/>
          <p:cNvSpPr txBox="1"/>
          <p:nvPr/>
        </p:nvSpPr>
        <p:spPr>
          <a:xfrm>
            <a:off x="4644648" y="2524017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ΔΔCt method, end-to-end</a:t>
            </a:r>
          </a:p>
        </p:txBody>
      </p:sp>
      <p:sp>
        <p:nvSpPr>
          <p:cNvPr id="70" name="Shape 36"/>
          <p:cNvSpPr/>
          <p:nvPr/>
        </p:nvSpPr>
        <p:spPr>
          <a:xfrm>
            <a:off x="490220" y="3601160"/>
            <a:ext cx="8138160" cy="12701"/>
          </a:xfrm>
          <a:prstGeom prst="rect">
            <a:avLst/>
          </a:prstGeom>
          <a:solidFill>
            <a:srgbClr val="DDD9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38"/>
          <p:cNvSpPr txBox="1"/>
          <p:nvPr/>
        </p:nvSpPr>
        <p:spPr>
          <a:xfrm>
            <a:off x="535939" y="3696715"/>
            <a:ext cx="1645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7</a:t>
            </a:r>
          </a:p>
        </p:txBody>
      </p:sp>
      <p:pic>
        <p:nvPicPr>
          <p:cNvPr id="72" name="Image 6" descr="Image 6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901700" y="3668776"/>
            <a:ext cx="237744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73" name="Text 39"/>
          <p:cNvSpPr txBox="1"/>
          <p:nvPr/>
        </p:nvSpPr>
        <p:spPr>
          <a:xfrm>
            <a:off x="1267460" y="3703320"/>
            <a:ext cx="3200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Statistics</a:t>
            </a:r>
          </a:p>
        </p:txBody>
      </p:sp>
      <p:sp>
        <p:nvSpPr>
          <p:cNvPr id="74" name="Text 40"/>
          <p:cNvSpPr txBox="1"/>
          <p:nvPr/>
        </p:nvSpPr>
        <p:spPr>
          <a:xfrm>
            <a:off x="4650740" y="3723684"/>
            <a:ext cx="40233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Statistical significance test</a:t>
            </a:r>
          </a:p>
        </p:txBody>
      </p:sp>
      <p:sp>
        <p:nvSpPr>
          <p:cNvPr id="75" name="Shape 41"/>
          <p:cNvSpPr/>
          <p:nvPr/>
        </p:nvSpPr>
        <p:spPr>
          <a:xfrm>
            <a:off x="490220" y="4003496"/>
            <a:ext cx="8138160" cy="12701"/>
          </a:xfrm>
          <a:prstGeom prst="rect">
            <a:avLst/>
          </a:prstGeom>
          <a:solidFill>
            <a:srgbClr val="DDD9D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6" name="Text 43"/>
          <p:cNvSpPr txBox="1"/>
          <p:nvPr/>
        </p:nvSpPr>
        <p:spPr>
          <a:xfrm>
            <a:off x="535939" y="4099051"/>
            <a:ext cx="164593" cy="218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900"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8</a:t>
            </a:r>
          </a:p>
        </p:txBody>
      </p:sp>
      <p:pic>
        <p:nvPicPr>
          <p:cNvPr id="77" name="Image 8" descr="Image 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76300" y="4070858"/>
            <a:ext cx="237744" cy="237745"/>
          </a:xfrm>
          <a:prstGeom prst="rect">
            <a:avLst/>
          </a:prstGeom>
          <a:ln w="12700">
            <a:miter lim="400000"/>
          </a:ln>
        </p:spPr>
      </p:pic>
      <p:sp>
        <p:nvSpPr>
          <p:cNvPr id="78" name="Text 49"/>
          <p:cNvSpPr txBox="1"/>
          <p:nvPr/>
        </p:nvSpPr>
        <p:spPr>
          <a:xfrm>
            <a:off x="1242060" y="4105402"/>
            <a:ext cx="3200401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Exporting Results</a:t>
            </a:r>
          </a:p>
        </p:txBody>
      </p:sp>
      <p:sp>
        <p:nvSpPr>
          <p:cNvPr id="79" name="Text 50"/>
          <p:cNvSpPr txBox="1"/>
          <p:nvPr/>
        </p:nvSpPr>
        <p:spPr>
          <a:xfrm>
            <a:off x="4625340" y="4125767"/>
            <a:ext cx="402336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CSV, PNG, SVG, HTML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Why Python?</a:t>
            </a:r>
          </a:p>
        </p:txBody>
      </p:sp>
      <p:sp>
        <p:nvSpPr>
          <p:cNvPr id="86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87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88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89" name="Image 0" descr="Image 0"/>
          <p:cNvPicPr>
            <a:picLocks noChangeAspect="1"/>
          </p:cNvPicPr>
          <p:nvPr/>
        </p:nvPicPr>
        <p:blipFill>
          <a:blip r:embed="rId3">
            <a:alphaModFix amt="22000"/>
            <a:extLst/>
          </a:blip>
          <a:stretch>
            <a:fillRect/>
          </a:stretch>
        </p:blipFill>
        <p:spPr>
          <a:xfrm>
            <a:off x="8046719" y="3657600"/>
            <a:ext cx="685801" cy="685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2919" y="1069847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Text 7"/>
          <p:cNvSpPr txBox="1"/>
          <p:nvPr/>
        </p:nvSpPr>
        <p:spPr>
          <a:xfrm>
            <a:off x="804672" y="1054099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Free &amp; Open-Source</a:t>
            </a:r>
          </a:p>
        </p:txBody>
      </p:sp>
      <p:sp>
        <p:nvSpPr>
          <p:cNvPr id="92" name="Text 8"/>
          <p:cNvSpPr txBox="1"/>
          <p:nvPr/>
        </p:nvSpPr>
        <p:spPr>
          <a:xfrm>
            <a:off x="804672" y="1271016"/>
            <a:ext cx="38404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No license costs — unlike MATLAB or Prism</a:t>
            </a:r>
          </a:p>
        </p:txBody>
      </p:sp>
      <p:pic>
        <p:nvPicPr>
          <p:cNvPr id="9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2919" y="1682495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94" name="Text 9"/>
          <p:cNvSpPr txBox="1"/>
          <p:nvPr/>
        </p:nvSpPr>
        <p:spPr>
          <a:xfrm>
            <a:off x="804672" y="1666747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Massive Ecosystem</a:t>
            </a:r>
          </a:p>
        </p:txBody>
      </p:sp>
      <p:sp>
        <p:nvSpPr>
          <p:cNvPr id="95" name="Text 10"/>
          <p:cNvSpPr txBox="1"/>
          <p:nvPr/>
        </p:nvSpPr>
        <p:spPr>
          <a:xfrm>
            <a:off x="804672" y="1883664"/>
            <a:ext cx="38404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NumPy, Pandas, SciPy, scikit-learn, BioPython…</a:t>
            </a:r>
          </a:p>
        </p:txBody>
      </p:sp>
      <p:pic>
        <p:nvPicPr>
          <p:cNvPr id="96" name="Image 3" descr="Image 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2919" y="2295144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97" name="Text 11"/>
          <p:cNvSpPr txBox="1"/>
          <p:nvPr/>
        </p:nvSpPr>
        <p:spPr>
          <a:xfrm>
            <a:off x="804672" y="2279395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Readable Syntax</a:t>
            </a:r>
          </a:p>
        </p:txBody>
      </p:sp>
      <p:sp>
        <p:nvSpPr>
          <p:cNvPr id="98" name="Text 12"/>
          <p:cNvSpPr txBox="1"/>
          <p:nvPr/>
        </p:nvSpPr>
        <p:spPr>
          <a:xfrm>
            <a:off x="804672" y="2496311"/>
            <a:ext cx="384048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Closest to pseudocode — easy for beginners</a:t>
            </a:r>
          </a:p>
        </p:txBody>
      </p:sp>
      <p:pic>
        <p:nvPicPr>
          <p:cNvPr id="99" name="Image 4" descr="Image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2919" y="2907792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Text 13"/>
          <p:cNvSpPr txBox="1"/>
          <p:nvPr/>
        </p:nvSpPr>
        <p:spPr>
          <a:xfrm>
            <a:off x="804672" y="2892043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Reproducibility</a:t>
            </a:r>
          </a:p>
        </p:txBody>
      </p:sp>
      <p:sp>
        <p:nvSpPr>
          <p:cNvPr id="101" name="Text 14"/>
          <p:cNvSpPr txBox="1"/>
          <p:nvPr/>
        </p:nvSpPr>
        <p:spPr>
          <a:xfrm>
            <a:off x="804672" y="3108960"/>
            <a:ext cx="38404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Scripts document your exact analysis steps</a:t>
            </a:r>
          </a:p>
        </p:txBody>
      </p:sp>
      <p:pic>
        <p:nvPicPr>
          <p:cNvPr id="102" name="Image 5" descr="Imag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02919" y="3520440"/>
            <a:ext cx="182881" cy="182881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Text 15"/>
          <p:cNvSpPr txBox="1"/>
          <p:nvPr/>
        </p:nvSpPr>
        <p:spPr>
          <a:xfrm>
            <a:off x="804672" y="3504691"/>
            <a:ext cx="3840480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#1 in Data Science</a:t>
            </a:r>
          </a:p>
        </p:txBody>
      </p:sp>
      <p:sp>
        <p:nvSpPr>
          <p:cNvPr id="104" name="Text 16"/>
          <p:cNvSpPr txBox="1"/>
          <p:nvPr/>
        </p:nvSpPr>
        <p:spPr>
          <a:xfrm>
            <a:off x="804672" y="3721608"/>
            <a:ext cx="3840480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Skills transfer directly to industry</a:t>
            </a:r>
          </a:p>
        </p:txBody>
      </p:sp>
      <p:sp>
        <p:nvSpPr>
          <p:cNvPr id="105" name="Shape 17"/>
          <p:cNvSpPr/>
          <p:nvPr/>
        </p:nvSpPr>
        <p:spPr>
          <a:xfrm>
            <a:off x="5029200" y="1024127"/>
            <a:ext cx="3657600" cy="20116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06" name="Shape 18"/>
          <p:cNvSpPr/>
          <p:nvPr/>
        </p:nvSpPr>
        <p:spPr>
          <a:xfrm>
            <a:off x="5029200" y="1024127"/>
            <a:ext cx="3657600" cy="50293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Text 19"/>
          <p:cNvSpPr txBox="1"/>
          <p:nvPr/>
        </p:nvSpPr>
        <p:spPr>
          <a:xfrm>
            <a:off x="5212079" y="1194053"/>
            <a:ext cx="329184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Excel vs. Python</a:t>
            </a:r>
          </a:p>
        </p:txBody>
      </p:sp>
      <p:sp>
        <p:nvSpPr>
          <p:cNvPr id="108" name="Text 20"/>
          <p:cNvSpPr txBox="1"/>
          <p:nvPr/>
        </p:nvSpPr>
        <p:spPr>
          <a:xfrm>
            <a:off x="5212079" y="1508760"/>
            <a:ext cx="3291842" cy="9345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5000"/>
              </a:lnSpc>
              <a:defRPr b="1" sz="1000">
                <a:solidFill>
                  <a:srgbClr val="8A8279"/>
                </a:solidFill>
              </a:defRPr>
            </a:pPr>
            <a:r>
              <a:t>Excel:</a:t>
            </a:r>
          </a:p>
          <a:p>
            <a:pPr>
              <a:lnSpc>
                <a:spcPct val="125000"/>
              </a:lnSpc>
              <a:defRPr sz="1000">
                <a:solidFill>
                  <a:srgbClr val="8A8279"/>
                </a:solidFill>
              </a:defRPr>
            </a:pPr>
            <a:r>
              <a:t>Manual, error-prone, not reproducible</a:t>
            </a:r>
          </a:p>
          <a:p>
            <a:pPr>
              <a:lnSpc>
                <a:spcPct val="125000"/>
              </a:lnSpc>
              <a:defRPr sz="1000"/>
            </a:pPr>
          </a:p>
          <a:p>
            <a:pPr>
              <a:lnSpc>
                <a:spcPct val="125000"/>
              </a:lnSpc>
              <a:defRPr b="1" sz="1000">
                <a:solidFill>
                  <a:srgbClr val="D41B2C"/>
                </a:solidFill>
              </a:defRPr>
            </a:pPr>
            <a:r>
              <a:t>Python:</a:t>
            </a:r>
          </a:p>
          <a:p>
            <a:pPr>
              <a:lnSpc>
                <a:spcPct val="125000"/>
              </a:lnSpc>
              <a:defRPr sz="1000">
                <a:solidFill>
                  <a:srgbClr val="3D3832"/>
                </a:solidFill>
              </a:defRPr>
            </a:pPr>
            <a:r>
              <a:t>Scripted, automated, fully reproducible</a:t>
            </a:r>
          </a:p>
        </p:txBody>
      </p:sp>
      <p:sp>
        <p:nvSpPr>
          <p:cNvPr id="109" name="Shape 21"/>
          <p:cNvSpPr/>
          <p:nvPr/>
        </p:nvSpPr>
        <p:spPr>
          <a:xfrm>
            <a:off x="5029200" y="3291840"/>
            <a:ext cx="3657600" cy="109728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10" name="Shape 22"/>
          <p:cNvSpPr/>
          <p:nvPr/>
        </p:nvSpPr>
        <p:spPr>
          <a:xfrm>
            <a:off x="5029200" y="3291840"/>
            <a:ext cx="3657600" cy="50293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Text 23"/>
          <p:cNvSpPr txBox="1"/>
          <p:nvPr/>
        </p:nvSpPr>
        <p:spPr>
          <a:xfrm>
            <a:off x="5212079" y="3440683"/>
            <a:ext cx="3291842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D9770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Huge Community</a:t>
            </a:r>
          </a:p>
        </p:txBody>
      </p:sp>
      <p:sp>
        <p:nvSpPr>
          <p:cNvPr id="112" name="Text 24"/>
          <p:cNvSpPr txBox="1"/>
          <p:nvPr/>
        </p:nvSpPr>
        <p:spPr>
          <a:xfrm>
            <a:off x="5212079" y="3703320"/>
            <a:ext cx="3291842" cy="34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8A8279"/>
                </a:solidFill>
              </a:defRPr>
            </a:pPr>
            <a:r>
              <a:t>Stack Overflow, GitHub, countless tutorials.</a:t>
            </a:r>
          </a:p>
          <a:p>
            <a:pPr>
              <a:lnSpc>
                <a:spcPct val="130000"/>
              </a:lnSpc>
              <a:defRPr sz="1000">
                <a:solidFill>
                  <a:srgbClr val="8A8279"/>
                </a:solidFill>
              </a:defRPr>
            </a:pPr>
            <a:r>
              <a:t>If you're stuck, someone has already solved it.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How to Get Started</a:t>
            </a:r>
          </a:p>
        </p:txBody>
      </p:sp>
      <p:sp>
        <p:nvSpPr>
          <p:cNvPr id="119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121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22" name="Shape 7"/>
          <p:cNvSpPr/>
          <p:nvPr/>
        </p:nvSpPr>
        <p:spPr>
          <a:xfrm>
            <a:off x="475487" y="1024127"/>
            <a:ext cx="1901952" cy="2852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23" name="Shape 8"/>
          <p:cNvSpPr/>
          <p:nvPr/>
        </p:nvSpPr>
        <p:spPr>
          <a:xfrm>
            <a:off x="475487" y="1024127"/>
            <a:ext cx="1901952" cy="50293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24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12648" y="1188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Text 9"/>
          <p:cNvSpPr txBox="1"/>
          <p:nvPr/>
        </p:nvSpPr>
        <p:spPr>
          <a:xfrm>
            <a:off x="1024127" y="1282699"/>
            <a:ext cx="121615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JupyterLab</a:t>
            </a:r>
          </a:p>
        </p:txBody>
      </p:sp>
      <p:sp>
        <p:nvSpPr>
          <p:cNvPr id="126" name="Text 10"/>
          <p:cNvSpPr txBox="1"/>
          <p:nvPr/>
        </p:nvSpPr>
        <p:spPr>
          <a:xfrm>
            <a:off x="612648" y="1691639"/>
            <a:ext cx="1627633" cy="474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Interactive notebooks — code,</a:t>
            </a:r>
          </a:p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output, and notes in one place.</a:t>
            </a:r>
          </a:p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Best for exploratory analysis.</a:t>
            </a:r>
          </a:p>
        </p:txBody>
      </p:sp>
      <p:sp>
        <p:nvSpPr>
          <p:cNvPr id="127" name="Shape 11"/>
          <p:cNvSpPr/>
          <p:nvPr/>
        </p:nvSpPr>
        <p:spPr>
          <a:xfrm>
            <a:off x="612648" y="3337559"/>
            <a:ext cx="1325881" cy="274321"/>
          </a:xfrm>
          <a:prstGeom prst="roundRect">
            <a:avLst>
              <a:gd name="adj" fmla="val 13333"/>
            </a:avLst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Text 12"/>
          <p:cNvSpPr txBox="1"/>
          <p:nvPr/>
        </p:nvSpPr>
        <p:spPr>
          <a:xfrm>
            <a:off x="658368" y="3376711"/>
            <a:ext cx="123444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Recommended</a:t>
            </a:r>
          </a:p>
        </p:txBody>
      </p:sp>
      <p:sp>
        <p:nvSpPr>
          <p:cNvPr id="129" name="Shape 13"/>
          <p:cNvSpPr/>
          <p:nvPr/>
        </p:nvSpPr>
        <p:spPr>
          <a:xfrm>
            <a:off x="2532888" y="1024127"/>
            <a:ext cx="1901951" cy="2852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0" name="Shape 14"/>
          <p:cNvSpPr/>
          <p:nvPr/>
        </p:nvSpPr>
        <p:spPr>
          <a:xfrm>
            <a:off x="2532888" y="1024127"/>
            <a:ext cx="1901951" cy="50293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1" name="Text 15"/>
          <p:cNvSpPr txBox="1"/>
          <p:nvPr/>
        </p:nvSpPr>
        <p:spPr>
          <a:xfrm>
            <a:off x="3081527" y="1282699"/>
            <a:ext cx="121615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Google Colab</a:t>
            </a:r>
          </a:p>
        </p:txBody>
      </p:sp>
      <p:sp>
        <p:nvSpPr>
          <p:cNvPr id="132" name="Text 16"/>
          <p:cNvSpPr txBox="1"/>
          <p:nvPr/>
        </p:nvSpPr>
        <p:spPr>
          <a:xfrm>
            <a:off x="2670048" y="1691639"/>
            <a:ext cx="1627633" cy="474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Cloud-based, zero install.</a:t>
            </a:r>
          </a:p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Runs in your browser.</a:t>
            </a:r>
          </a:p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Free GPU access.</a:t>
            </a:r>
          </a:p>
        </p:txBody>
      </p:sp>
      <p:sp>
        <p:nvSpPr>
          <p:cNvPr id="133" name="Shape 17"/>
          <p:cNvSpPr/>
          <p:nvPr/>
        </p:nvSpPr>
        <p:spPr>
          <a:xfrm>
            <a:off x="2670048" y="3337559"/>
            <a:ext cx="1325881" cy="274321"/>
          </a:xfrm>
          <a:prstGeom prst="roundRect">
            <a:avLst>
              <a:gd name="adj" fmla="val 13333"/>
            </a:avLst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Text 18"/>
          <p:cNvSpPr txBox="1"/>
          <p:nvPr/>
        </p:nvSpPr>
        <p:spPr>
          <a:xfrm>
            <a:off x="2715768" y="3376711"/>
            <a:ext cx="1234441" cy="1960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800">
                <a:solidFill>
                  <a:srgbClr val="FFFFFF"/>
                </a:solidFill>
              </a:defRPr>
            </a:lvl1pPr>
          </a:lstStyle>
          <a:p>
            <a:pPr/>
            <a:r>
              <a:t>Recommended</a:t>
            </a:r>
          </a:p>
        </p:txBody>
      </p:sp>
      <p:sp>
        <p:nvSpPr>
          <p:cNvPr id="135" name="Shape 19"/>
          <p:cNvSpPr/>
          <p:nvPr/>
        </p:nvSpPr>
        <p:spPr>
          <a:xfrm>
            <a:off x="4590288" y="1024127"/>
            <a:ext cx="1901951" cy="2852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36" name="Shape 20"/>
          <p:cNvSpPr/>
          <p:nvPr/>
        </p:nvSpPr>
        <p:spPr>
          <a:xfrm>
            <a:off x="4590288" y="1024127"/>
            <a:ext cx="1901951" cy="50293"/>
          </a:xfrm>
          <a:prstGeom prst="rect">
            <a:avLst/>
          </a:prstGeom>
          <a:solidFill>
            <a:srgbClr val="0C33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37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27447" y="1188719"/>
            <a:ext cx="365761" cy="365761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Text 21"/>
          <p:cNvSpPr txBox="1"/>
          <p:nvPr/>
        </p:nvSpPr>
        <p:spPr>
          <a:xfrm>
            <a:off x="5138928" y="1282699"/>
            <a:ext cx="121615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Python Scripts</a:t>
            </a:r>
          </a:p>
        </p:txBody>
      </p:sp>
      <p:sp>
        <p:nvSpPr>
          <p:cNvPr id="139" name="Text 22"/>
          <p:cNvSpPr txBox="1"/>
          <p:nvPr/>
        </p:nvSpPr>
        <p:spPr>
          <a:xfrm>
            <a:off x="4727447" y="1691639"/>
            <a:ext cx="1627633" cy="474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Write &amp; run from terminal.</a:t>
            </a:r>
          </a:p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Best for automation and</a:t>
            </a:r>
          </a:p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batch processing.</a:t>
            </a:r>
          </a:p>
        </p:txBody>
      </p:sp>
      <p:sp>
        <p:nvSpPr>
          <p:cNvPr id="140" name="Shape 23"/>
          <p:cNvSpPr/>
          <p:nvPr/>
        </p:nvSpPr>
        <p:spPr>
          <a:xfrm>
            <a:off x="6647688" y="1024127"/>
            <a:ext cx="1901951" cy="28529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41" name="Shape 24"/>
          <p:cNvSpPr/>
          <p:nvPr/>
        </p:nvSpPr>
        <p:spPr>
          <a:xfrm>
            <a:off x="6647688" y="1024127"/>
            <a:ext cx="1901951" cy="50293"/>
          </a:xfrm>
          <a:prstGeom prst="rect">
            <a:avLst/>
          </a:prstGeom>
          <a:solidFill>
            <a:srgbClr val="1E1E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25"/>
          <p:cNvSpPr txBox="1"/>
          <p:nvPr/>
        </p:nvSpPr>
        <p:spPr>
          <a:xfrm>
            <a:off x="7196328" y="1282699"/>
            <a:ext cx="121615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VS Code</a:t>
            </a:r>
          </a:p>
        </p:txBody>
      </p:sp>
      <p:sp>
        <p:nvSpPr>
          <p:cNvPr id="143" name="Text 26"/>
          <p:cNvSpPr txBox="1"/>
          <p:nvPr/>
        </p:nvSpPr>
        <p:spPr>
          <a:xfrm>
            <a:off x="6784847" y="1691639"/>
            <a:ext cx="1627633" cy="474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Full IDE with debugging,</a:t>
            </a:r>
          </a:p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linting, integrated terminal.</a:t>
            </a:r>
          </a:p>
          <a:p>
            <a:pPr>
              <a:lnSpc>
                <a:spcPct val="135000"/>
              </a:lnSpc>
              <a:defRPr sz="900">
                <a:solidFill>
                  <a:srgbClr val="8A8279"/>
                </a:solidFill>
              </a:defRPr>
            </a:pPr>
            <a:r>
              <a:t>Great as you advance.</a:t>
            </a:r>
          </a:p>
        </p:txBody>
      </p:sp>
      <p:sp>
        <p:nvSpPr>
          <p:cNvPr id="144" name="Shape 27"/>
          <p:cNvSpPr/>
          <p:nvPr/>
        </p:nvSpPr>
        <p:spPr>
          <a:xfrm>
            <a:off x="475487" y="4096511"/>
            <a:ext cx="8193025" cy="475489"/>
          </a:xfrm>
          <a:prstGeom prst="roundRect">
            <a:avLst>
              <a:gd name="adj" fmla="val 11538"/>
            </a:avLst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Text 28"/>
          <p:cNvSpPr txBox="1"/>
          <p:nvPr/>
        </p:nvSpPr>
        <p:spPr>
          <a:xfrm>
            <a:off x="704087" y="4221401"/>
            <a:ext cx="7735825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100">
                <a:solidFill>
                  <a:srgbClr val="FFFFFF"/>
                </a:solidFill>
              </a:defRPr>
            </a:lvl1pPr>
          </a:lstStyle>
          <a:p>
            <a:pPr/>
            <a:r>
              <a:t>For today: use JupyterLab or Google Colab — no installation needed with Colab!</a:t>
            </a:r>
          </a:p>
        </p:txBody>
      </p:sp>
      <p:pic>
        <p:nvPicPr>
          <p:cNvPr id="146" name="pasted-movie.png" descr="pasted-movie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684448" y="1285455"/>
            <a:ext cx="336960" cy="19515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asted-movie.png" descr="pasted-movie.png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799248" y="1188719"/>
            <a:ext cx="376377" cy="330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2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Components of a Python Program</a:t>
            </a:r>
          </a:p>
        </p:txBody>
      </p:sp>
      <p:sp>
        <p:nvSpPr>
          <p:cNvPr id="154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5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156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57" name="Shape 7"/>
          <p:cNvSpPr/>
          <p:nvPr/>
        </p:nvSpPr>
        <p:spPr>
          <a:xfrm>
            <a:off x="411480" y="987552"/>
            <a:ext cx="4754880" cy="3520441"/>
          </a:xfrm>
          <a:prstGeom prst="roundRect">
            <a:avLst>
              <a:gd name="adj" fmla="val 2597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Text 8"/>
          <p:cNvSpPr txBox="1"/>
          <p:nvPr/>
        </p:nvSpPr>
        <p:spPr>
          <a:xfrm>
            <a:off x="594359" y="1078991"/>
            <a:ext cx="4389122" cy="22643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numpy as np</a:t>
            </a: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pandas as pd</a:t>
            </a: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sample_name = "Cell_Line_A"</a:t>
            </a: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measurements = [2.1, 3.5, 4.8, 3.2]</a:t>
            </a:r>
          </a:p>
          <a:p>
            <a:pPr>
              <a:lnSpc>
                <a:spcPct val="128000"/>
              </a:lnSpc>
              <a:defRPr sz="900"/>
            </a:pP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def calculate_mean(data):</a:t>
            </a: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return np.mean(data)</a:t>
            </a:r>
          </a:p>
          <a:p>
            <a:pPr>
              <a:lnSpc>
                <a:spcPct val="128000"/>
              </a:lnSpc>
              <a:defRPr sz="900"/>
            </a:pP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avg = calculate_mean(measurements)</a:t>
            </a:r>
          </a:p>
          <a:p>
            <a:pPr>
              <a:lnSpc>
                <a:spcPct val="128000"/>
              </a:lnSpc>
              <a:defRPr sz="900"/>
            </a:pPr>
          </a:p>
          <a:p>
            <a:pPr>
              <a:lnSpc>
                <a:spcPct val="128000"/>
              </a:lnSpc>
              <a:defRPr sz="9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print(f"Average for {sample_name}: {avg:.2f} mg/mL")</a:t>
            </a:r>
          </a:p>
        </p:txBody>
      </p:sp>
      <p:sp>
        <p:nvSpPr>
          <p:cNvPr id="159" name="Text 11"/>
          <p:cNvSpPr txBox="1"/>
          <p:nvPr/>
        </p:nvSpPr>
        <p:spPr>
          <a:xfrm>
            <a:off x="5687567" y="1046838"/>
            <a:ext cx="30175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Import packages</a:t>
            </a:r>
          </a:p>
        </p:txBody>
      </p:sp>
      <p:sp>
        <p:nvSpPr>
          <p:cNvPr id="160" name="Shape 12"/>
          <p:cNvSpPr/>
          <p:nvPr/>
        </p:nvSpPr>
        <p:spPr>
          <a:xfrm>
            <a:off x="5687567" y="1249172"/>
            <a:ext cx="3017522" cy="217628"/>
          </a:xfrm>
          <a:prstGeom prst="roundRect">
            <a:avLst>
              <a:gd name="adj" fmla="val 21008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13"/>
          <p:cNvSpPr txBox="1"/>
          <p:nvPr/>
        </p:nvSpPr>
        <p:spPr>
          <a:xfrm>
            <a:off x="5753608" y="1281176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import numpy as np</a:t>
            </a:r>
          </a:p>
        </p:txBody>
      </p:sp>
      <p:sp>
        <p:nvSpPr>
          <p:cNvPr id="162" name="Shape 15"/>
          <p:cNvSpPr/>
          <p:nvPr/>
        </p:nvSpPr>
        <p:spPr>
          <a:xfrm>
            <a:off x="5207508" y="1609940"/>
            <a:ext cx="256033" cy="25401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Text 16"/>
          <p:cNvSpPr txBox="1"/>
          <p:nvPr/>
        </p:nvSpPr>
        <p:spPr>
          <a:xfrm>
            <a:off x="5687567" y="1546440"/>
            <a:ext cx="30175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Variables</a:t>
            </a:r>
          </a:p>
        </p:txBody>
      </p:sp>
      <p:sp>
        <p:nvSpPr>
          <p:cNvPr id="164" name="Shape 17"/>
          <p:cNvSpPr/>
          <p:nvPr/>
        </p:nvSpPr>
        <p:spPr>
          <a:xfrm>
            <a:off x="5687567" y="1727404"/>
            <a:ext cx="3017522" cy="217628"/>
          </a:xfrm>
          <a:prstGeom prst="roundRect">
            <a:avLst>
              <a:gd name="adj" fmla="val 21008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18"/>
          <p:cNvSpPr txBox="1"/>
          <p:nvPr/>
        </p:nvSpPr>
        <p:spPr>
          <a:xfrm>
            <a:off x="5753608" y="1762589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sample_name = "Cell_Line_A"</a:t>
            </a:r>
          </a:p>
        </p:txBody>
      </p:sp>
      <p:sp>
        <p:nvSpPr>
          <p:cNvPr id="166" name="Shape 20"/>
          <p:cNvSpPr/>
          <p:nvPr/>
        </p:nvSpPr>
        <p:spPr>
          <a:xfrm>
            <a:off x="5207508" y="2062440"/>
            <a:ext cx="256033" cy="25401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7" name="Text 21"/>
          <p:cNvSpPr txBox="1"/>
          <p:nvPr/>
        </p:nvSpPr>
        <p:spPr>
          <a:xfrm>
            <a:off x="5687567" y="1998940"/>
            <a:ext cx="30175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Lists</a:t>
            </a:r>
          </a:p>
        </p:txBody>
      </p:sp>
      <p:sp>
        <p:nvSpPr>
          <p:cNvPr id="168" name="Shape 22"/>
          <p:cNvSpPr/>
          <p:nvPr/>
        </p:nvSpPr>
        <p:spPr>
          <a:xfrm>
            <a:off x="5687567" y="2169120"/>
            <a:ext cx="3017522" cy="216952"/>
          </a:xfrm>
          <a:prstGeom prst="roundRect">
            <a:avLst>
              <a:gd name="adj" fmla="val 21074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23"/>
          <p:cNvSpPr txBox="1"/>
          <p:nvPr/>
        </p:nvSpPr>
        <p:spPr>
          <a:xfrm>
            <a:off x="5753608" y="2200147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[2.1, 3.5, 4.8, 3.2]</a:t>
            </a:r>
          </a:p>
        </p:txBody>
      </p:sp>
      <p:sp>
        <p:nvSpPr>
          <p:cNvPr id="170" name="Shape 25"/>
          <p:cNvSpPr/>
          <p:nvPr/>
        </p:nvSpPr>
        <p:spPr>
          <a:xfrm>
            <a:off x="5207508" y="2494533"/>
            <a:ext cx="256033" cy="25401"/>
          </a:xfrm>
          <a:prstGeom prst="rect">
            <a:avLst/>
          </a:prstGeom>
          <a:solidFill>
            <a:srgbClr val="0C33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1" name="Text 26"/>
          <p:cNvSpPr txBox="1"/>
          <p:nvPr/>
        </p:nvSpPr>
        <p:spPr>
          <a:xfrm>
            <a:off x="5687567" y="2452940"/>
            <a:ext cx="30175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Functions</a:t>
            </a:r>
          </a:p>
        </p:txBody>
      </p:sp>
      <p:sp>
        <p:nvSpPr>
          <p:cNvPr id="172" name="Shape 27"/>
          <p:cNvSpPr/>
          <p:nvPr/>
        </p:nvSpPr>
        <p:spPr>
          <a:xfrm>
            <a:off x="5687567" y="2619800"/>
            <a:ext cx="3017522" cy="218257"/>
          </a:xfrm>
          <a:prstGeom prst="roundRect">
            <a:avLst>
              <a:gd name="adj" fmla="val 20948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3" name="Text 28"/>
          <p:cNvSpPr txBox="1"/>
          <p:nvPr/>
        </p:nvSpPr>
        <p:spPr>
          <a:xfrm>
            <a:off x="5736880" y="2652728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def calculate_mean(data):</a:t>
            </a:r>
          </a:p>
        </p:txBody>
      </p:sp>
      <p:sp>
        <p:nvSpPr>
          <p:cNvPr id="174" name="Shape 30"/>
          <p:cNvSpPr/>
          <p:nvPr/>
        </p:nvSpPr>
        <p:spPr>
          <a:xfrm>
            <a:off x="5207508" y="3238723"/>
            <a:ext cx="256033" cy="25401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31"/>
          <p:cNvSpPr txBox="1"/>
          <p:nvPr/>
        </p:nvSpPr>
        <p:spPr>
          <a:xfrm>
            <a:off x="5687567" y="3175223"/>
            <a:ext cx="301752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Print output</a:t>
            </a:r>
          </a:p>
        </p:txBody>
      </p:sp>
      <p:sp>
        <p:nvSpPr>
          <p:cNvPr id="176" name="Shape 32"/>
          <p:cNvSpPr/>
          <p:nvPr/>
        </p:nvSpPr>
        <p:spPr>
          <a:xfrm>
            <a:off x="5687567" y="3342112"/>
            <a:ext cx="3017522" cy="217628"/>
          </a:xfrm>
          <a:prstGeom prst="roundRect">
            <a:avLst>
              <a:gd name="adj" fmla="val 21008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7" name="Text 33"/>
          <p:cNvSpPr txBox="1"/>
          <p:nvPr/>
        </p:nvSpPr>
        <p:spPr>
          <a:xfrm>
            <a:off x="5753608" y="3374726"/>
            <a:ext cx="28346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f"Average: {avg:.2f}"</a:t>
            </a:r>
          </a:p>
        </p:txBody>
      </p:sp>
      <p:sp>
        <p:nvSpPr>
          <p:cNvPr id="178" name="Shape 15"/>
          <p:cNvSpPr/>
          <p:nvPr/>
        </p:nvSpPr>
        <p:spPr>
          <a:xfrm>
            <a:off x="5207508" y="1110338"/>
            <a:ext cx="256033" cy="25401"/>
          </a:xfrm>
          <a:prstGeom prst="rect">
            <a:avLst/>
          </a:prstGeom>
          <a:gradFill>
            <a:gsLst>
              <a:gs pos="0">
                <a:srgbClr val="80B860"/>
              </a:gs>
              <a:gs pos="50000">
                <a:srgbClr val="6FB242"/>
              </a:gs>
              <a:gs pos="100000">
                <a:srgbClr val="61A236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9" name="Output"/>
          <p:cNvSpPr txBox="1"/>
          <p:nvPr/>
        </p:nvSpPr>
        <p:spPr>
          <a:xfrm>
            <a:off x="2470152" y="3684169"/>
            <a:ext cx="76895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algn="ctr">
              <a:defRPr>
                <a:solidFill>
                  <a:srgbClr val="C8FF5C"/>
                </a:solidFill>
              </a:defRPr>
            </a:lvl1pPr>
          </a:lstStyle>
          <a:p>
            <a:pPr/>
            <a:r>
              <a:t>Output</a:t>
            </a:r>
          </a:p>
        </p:txBody>
      </p:sp>
      <p:sp>
        <p:nvSpPr>
          <p:cNvPr id="180" name="Shape 12"/>
          <p:cNvSpPr/>
          <p:nvPr/>
        </p:nvSpPr>
        <p:spPr>
          <a:xfrm>
            <a:off x="1467140" y="3992836"/>
            <a:ext cx="3017521" cy="256033"/>
          </a:xfrm>
          <a:prstGeom prst="roundRect">
            <a:avLst>
              <a:gd name="adj" fmla="val 17857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1" name="Average for Cell_Line_A: 3.40 mg/mL"/>
          <p:cNvSpPr txBox="1"/>
          <p:nvPr/>
        </p:nvSpPr>
        <p:spPr>
          <a:xfrm>
            <a:off x="1562698" y="3987756"/>
            <a:ext cx="2583865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300">
                <a:solidFill>
                  <a:schemeClr val="accent6"/>
                </a:solidFill>
              </a:defRPr>
            </a:lvl1pPr>
          </a:lstStyle>
          <a:p>
            <a:pPr/>
            <a:r>
              <a:t>Average for Cell_Line_A: 3.40 mg/mL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6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7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Essential Python Packages</a:t>
            </a:r>
          </a:p>
        </p:txBody>
      </p:sp>
      <p:sp>
        <p:nvSpPr>
          <p:cNvPr id="188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89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190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191" name="Shape 7"/>
          <p:cNvSpPr/>
          <p:nvPr/>
        </p:nvSpPr>
        <p:spPr>
          <a:xfrm>
            <a:off x="457200" y="987552"/>
            <a:ext cx="2606040" cy="14447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2" name="Shape 8"/>
          <p:cNvSpPr/>
          <p:nvPr/>
        </p:nvSpPr>
        <p:spPr>
          <a:xfrm>
            <a:off x="457200" y="987552"/>
            <a:ext cx="50293" cy="1444753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193" name="Image 0" descr="Image 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1791" y="10607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194" name="Text 9"/>
          <p:cNvSpPr txBox="1"/>
          <p:nvPr/>
        </p:nvSpPr>
        <p:spPr>
          <a:xfrm>
            <a:off x="960119" y="1111757"/>
            <a:ext cx="196596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NumPy</a:t>
            </a:r>
          </a:p>
        </p:txBody>
      </p:sp>
      <p:sp>
        <p:nvSpPr>
          <p:cNvPr id="195" name="Text 10"/>
          <p:cNvSpPr txBox="1"/>
          <p:nvPr/>
        </p:nvSpPr>
        <p:spPr>
          <a:xfrm>
            <a:off x="621791" y="1399032"/>
            <a:ext cx="2276857" cy="28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Fast numerical arrays</a:t>
            </a:r>
          </a:p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&amp; math operations</a:t>
            </a:r>
          </a:p>
        </p:txBody>
      </p:sp>
      <p:sp>
        <p:nvSpPr>
          <p:cNvPr id="196" name="Shape 11"/>
          <p:cNvSpPr/>
          <p:nvPr/>
        </p:nvSpPr>
        <p:spPr>
          <a:xfrm>
            <a:off x="566927" y="1929383"/>
            <a:ext cx="2386585" cy="365761"/>
          </a:xfrm>
          <a:prstGeom prst="roundRect">
            <a:avLst>
              <a:gd name="adj" fmla="val 10000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12"/>
          <p:cNvSpPr txBox="1"/>
          <p:nvPr/>
        </p:nvSpPr>
        <p:spPr>
          <a:xfrm>
            <a:off x="658367" y="2048763"/>
            <a:ext cx="220370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np.mean([1, 2, 3]) → 2.0</a:t>
            </a:r>
          </a:p>
        </p:txBody>
      </p:sp>
      <p:sp>
        <p:nvSpPr>
          <p:cNvPr id="198" name="Shape 13"/>
          <p:cNvSpPr/>
          <p:nvPr/>
        </p:nvSpPr>
        <p:spPr>
          <a:xfrm>
            <a:off x="3264408" y="987552"/>
            <a:ext cx="2606041" cy="14447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9" name="Shape 14"/>
          <p:cNvSpPr/>
          <p:nvPr/>
        </p:nvSpPr>
        <p:spPr>
          <a:xfrm>
            <a:off x="3264408" y="987552"/>
            <a:ext cx="50293" cy="1444753"/>
          </a:xfrm>
          <a:prstGeom prst="rect">
            <a:avLst/>
          </a:prstGeom>
          <a:solidFill>
            <a:srgbClr val="0C33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0" name="Image 1" descr="Image 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429000" y="10607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1" name="Text 15"/>
          <p:cNvSpPr txBox="1"/>
          <p:nvPr/>
        </p:nvSpPr>
        <p:spPr>
          <a:xfrm>
            <a:off x="3767328" y="1111757"/>
            <a:ext cx="19659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SciPy</a:t>
            </a:r>
          </a:p>
        </p:txBody>
      </p:sp>
      <p:sp>
        <p:nvSpPr>
          <p:cNvPr id="202" name="Text 16"/>
          <p:cNvSpPr txBox="1"/>
          <p:nvPr/>
        </p:nvSpPr>
        <p:spPr>
          <a:xfrm>
            <a:off x="3429000" y="1399032"/>
            <a:ext cx="2276856" cy="28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Statistical tests, curve</a:t>
            </a:r>
          </a:p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fitting, signal processing</a:t>
            </a:r>
          </a:p>
        </p:txBody>
      </p:sp>
      <p:sp>
        <p:nvSpPr>
          <p:cNvPr id="203" name="Shape 17"/>
          <p:cNvSpPr/>
          <p:nvPr/>
        </p:nvSpPr>
        <p:spPr>
          <a:xfrm>
            <a:off x="3374135" y="1929383"/>
            <a:ext cx="2386585" cy="365761"/>
          </a:xfrm>
          <a:prstGeom prst="roundRect">
            <a:avLst>
              <a:gd name="adj" fmla="val 10000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04" name="Text 18"/>
          <p:cNvSpPr txBox="1"/>
          <p:nvPr/>
        </p:nvSpPr>
        <p:spPr>
          <a:xfrm>
            <a:off x="3465576" y="2048763"/>
            <a:ext cx="22037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stats.ttest_ind(a, b)</a:t>
            </a:r>
          </a:p>
        </p:txBody>
      </p:sp>
      <p:sp>
        <p:nvSpPr>
          <p:cNvPr id="205" name="Shape 19"/>
          <p:cNvSpPr/>
          <p:nvPr/>
        </p:nvSpPr>
        <p:spPr>
          <a:xfrm>
            <a:off x="6071615" y="987552"/>
            <a:ext cx="2606041" cy="14447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6" name="Shape 20"/>
          <p:cNvSpPr/>
          <p:nvPr/>
        </p:nvSpPr>
        <p:spPr>
          <a:xfrm>
            <a:off x="6071615" y="987552"/>
            <a:ext cx="50293" cy="1444753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07" name="Image 2" descr="Image 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236208" y="106070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 21"/>
          <p:cNvSpPr txBox="1"/>
          <p:nvPr/>
        </p:nvSpPr>
        <p:spPr>
          <a:xfrm>
            <a:off x="6574535" y="1111757"/>
            <a:ext cx="19659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Pandas</a:t>
            </a:r>
          </a:p>
        </p:txBody>
      </p:sp>
      <p:sp>
        <p:nvSpPr>
          <p:cNvPr id="209" name="Text 22"/>
          <p:cNvSpPr txBox="1"/>
          <p:nvPr/>
        </p:nvSpPr>
        <p:spPr>
          <a:xfrm>
            <a:off x="6236208" y="1399032"/>
            <a:ext cx="2276857" cy="28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DataFrames — smart</a:t>
            </a:r>
          </a:p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spreadsheets in code</a:t>
            </a:r>
          </a:p>
        </p:txBody>
      </p:sp>
      <p:sp>
        <p:nvSpPr>
          <p:cNvPr id="210" name="Shape 23"/>
          <p:cNvSpPr/>
          <p:nvPr/>
        </p:nvSpPr>
        <p:spPr>
          <a:xfrm>
            <a:off x="6181344" y="1929383"/>
            <a:ext cx="2386584" cy="365761"/>
          </a:xfrm>
          <a:prstGeom prst="roundRect">
            <a:avLst>
              <a:gd name="adj" fmla="val 10000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1" name="Text 24"/>
          <p:cNvSpPr txBox="1"/>
          <p:nvPr/>
        </p:nvSpPr>
        <p:spPr>
          <a:xfrm>
            <a:off x="6272784" y="2048763"/>
            <a:ext cx="22037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pd.read_csv("data.csv")</a:t>
            </a:r>
          </a:p>
        </p:txBody>
      </p:sp>
      <p:sp>
        <p:nvSpPr>
          <p:cNvPr id="212" name="Shape 25"/>
          <p:cNvSpPr/>
          <p:nvPr/>
        </p:nvSpPr>
        <p:spPr>
          <a:xfrm>
            <a:off x="457200" y="2633472"/>
            <a:ext cx="2606040" cy="14447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3" name="Shape 26"/>
          <p:cNvSpPr/>
          <p:nvPr/>
        </p:nvSpPr>
        <p:spPr>
          <a:xfrm>
            <a:off x="457200" y="2633472"/>
            <a:ext cx="50293" cy="1444753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27"/>
          <p:cNvSpPr txBox="1"/>
          <p:nvPr/>
        </p:nvSpPr>
        <p:spPr>
          <a:xfrm>
            <a:off x="960119" y="2757677"/>
            <a:ext cx="1965962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Matplotlib</a:t>
            </a:r>
          </a:p>
        </p:txBody>
      </p:sp>
      <p:sp>
        <p:nvSpPr>
          <p:cNvPr id="215" name="Text 28"/>
          <p:cNvSpPr txBox="1"/>
          <p:nvPr/>
        </p:nvSpPr>
        <p:spPr>
          <a:xfrm>
            <a:off x="621791" y="3044951"/>
            <a:ext cx="2276857" cy="288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Publication-quality</a:t>
            </a:r>
          </a:p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static plots</a:t>
            </a:r>
          </a:p>
        </p:txBody>
      </p:sp>
      <p:sp>
        <p:nvSpPr>
          <p:cNvPr id="216" name="Shape 29"/>
          <p:cNvSpPr/>
          <p:nvPr/>
        </p:nvSpPr>
        <p:spPr>
          <a:xfrm>
            <a:off x="566927" y="3575303"/>
            <a:ext cx="2386585" cy="365761"/>
          </a:xfrm>
          <a:prstGeom prst="roundRect">
            <a:avLst>
              <a:gd name="adj" fmla="val 10000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17" name="Text 30"/>
          <p:cNvSpPr txBox="1"/>
          <p:nvPr/>
        </p:nvSpPr>
        <p:spPr>
          <a:xfrm>
            <a:off x="658367" y="3694683"/>
            <a:ext cx="220370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plt.savefig("fig.png", dpi=300)</a:t>
            </a:r>
          </a:p>
        </p:txBody>
      </p:sp>
      <p:sp>
        <p:nvSpPr>
          <p:cNvPr id="218" name="Shape 31"/>
          <p:cNvSpPr/>
          <p:nvPr/>
        </p:nvSpPr>
        <p:spPr>
          <a:xfrm>
            <a:off x="3277108" y="2633472"/>
            <a:ext cx="2606041" cy="14447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9" name="Shape 32"/>
          <p:cNvSpPr/>
          <p:nvPr/>
        </p:nvSpPr>
        <p:spPr>
          <a:xfrm>
            <a:off x="3264408" y="2633472"/>
            <a:ext cx="50293" cy="1444753"/>
          </a:xfrm>
          <a:prstGeom prst="rect">
            <a:avLst/>
          </a:prstGeom>
          <a:solidFill>
            <a:srgbClr val="991B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220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429000" y="2706623"/>
            <a:ext cx="292609" cy="292609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Text 33"/>
          <p:cNvSpPr txBox="1"/>
          <p:nvPr/>
        </p:nvSpPr>
        <p:spPr>
          <a:xfrm>
            <a:off x="3767328" y="2757677"/>
            <a:ext cx="19659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Plotly</a:t>
            </a:r>
          </a:p>
        </p:txBody>
      </p:sp>
      <p:sp>
        <p:nvSpPr>
          <p:cNvPr id="222" name="Text 34"/>
          <p:cNvSpPr txBox="1"/>
          <p:nvPr/>
        </p:nvSpPr>
        <p:spPr>
          <a:xfrm>
            <a:off x="3429000" y="3044951"/>
            <a:ext cx="2276856" cy="288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Interactive plots </a:t>
            </a:r>
          </a:p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for exploration</a:t>
            </a:r>
          </a:p>
        </p:txBody>
      </p:sp>
      <p:sp>
        <p:nvSpPr>
          <p:cNvPr id="223" name="Shape 35"/>
          <p:cNvSpPr/>
          <p:nvPr/>
        </p:nvSpPr>
        <p:spPr>
          <a:xfrm>
            <a:off x="3374135" y="3575303"/>
            <a:ext cx="2386585" cy="365761"/>
          </a:xfrm>
          <a:prstGeom prst="roundRect">
            <a:avLst>
              <a:gd name="adj" fmla="val 10000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36"/>
          <p:cNvSpPr txBox="1"/>
          <p:nvPr/>
        </p:nvSpPr>
        <p:spPr>
          <a:xfrm>
            <a:off x="3465576" y="3694683"/>
            <a:ext cx="22037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px.scatter(df, x=..., y=...)</a:t>
            </a:r>
          </a:p>
        </p:txBody>
      </p:sp>
      <p:sp>
        <p:nvSpPr>
          <p:cNvPr id="225" name="Shape 37"/>
          <p:cNvSpPr/>
          <p:nvPr/>
        </p:nvSpPr>
        <p:spPr>
          <a:xfrm>
            <a:off x="6071615" y="2633472"/>
            <a:ext cx="2606041" cy="144475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6" name="Shape 38"/>
          <p:cNvSpPr/>
          <p:nvPr/>
        </p:nvSpPr>
        <p:spPr>
          <a:xfrm>
            <a:off x="6071615" y="2633472"/>
            <a:ext cx="50293" cy="1444753"/>
          </a:xfrm>
          <a:prstGeom prst="rect">
            <a:avLst/>
          </a:prstGeom>
          <a:solidFill>
            <a:srgbClr val="1E1E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27" name="Text 39"/>
          <p:cNvSpPr txBox="1"/>
          <p:nvPr/>
        </p:nvSpPr>
        <p:spPr>
          <a:xfrm>
            <a:off x="6574535" y="2757677"/>
            <a:ext cx="1965961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Seaborn</a:t>
            </a:r>
          </a:p>
        </p:txBody>
      </p:sp>
      <p:sp>
        <p:nvSpPr>
          <p:cNvPr id="228" name="Text 40"/>
          <p:cNvSpPr txBox="1"/>
          <p:nvPr/>
        </p:nvSpPr>
        <p:spPr>
          <a:xfrm>
            <a:off x="6236208" y="3044951"/>
            <a:ext cx="2276857" cy="288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Beautiful statistical</a:t>
            </a:r>
          </a:p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visualizations</a:t>
            </a:r>
          </a:p>
        </p:txBody>
      </p:sp>
      <p:sp>
        <p:nvSpPr>
          <p:cNvPr id="229" name="Shape 41"/>
          <p:cNvSpPr/>
          <p:nvPr/>
        </p:nvSpPr>
        <p:spPr>
          <a:xfrm>
            <a:off x="6181344" y="3575303"/>
            <a:ext cx="2386584" cy="365761"/>
          </a:xfrm>
          <a:prstGeom prst="roundRect">
            <a:avLst>
              <a:gd name="adj" fmla="val 10000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42"/>
          <p:cNvSpPr txBox="1"/>
          <p:nvPr/>
        </p:nvSpPr>
        <p:spPr>
          <a:xfrm>
            <a:off x="6272784" y="3694683"/>
            <a:ext cx="22037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sns.violinplot(data=df)</a:t>
            </a:r>
          </a:p>
        </p:txBody>
      </p:sp>
      <p:sp>
        <p:nvSpPr>
          <p:cNvPr id="231" name="Text 43"/>
          <p:cNvSpPr txBox="1"/>
          <p:nvPr/>
        </p:nvSpPr>
        <p:spPr>
          <a:xfrm>
            <a:off x="502920" y="4302760"/>
            <a:ext cx="813816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900">
                <a:solidFill>
                  <a:srgbClr val="8A8279"/>
                </a:solidFill>
              </a:defRPr>
            </a:lvl1pPr>
          </a:lstStyle>
          <a:p>
            <a:pPr/>
            <a:r>
              <a:t>Don't memorize — just know they exist. Google + docs will guide you.</a:t>
            </a:r>
          </a:p>
        </p:txBody>
      </p:sp>
      <p:pic>
        <p:nvPicPr>
          <p:cNvPr id="232" name="logo-tall-lightbg.svg" descr="logo-tall-lightbg.svg"/>
          <p:cNvPicPr>
            <a:picLocks noChangeAspect="1"/>
          </p:cNvPicPr>
          <p:nvPr/>
        </p:nvPicPr>
        <p:blipFill>
          <a:blip r:embed="rId7">
            <a:extLst/>
          </a:blip>
          <a:srcRect l="0" t="0" r="0" b="22332"/>
          <a:stretch>
            <a:fillRect/>
          </a:stretch>
        </p:blipFill>
        <p:spPr>
          <a:xfrm>
            <a:off x="6224419" y="2710681"/>
            <a:ext cx="304258" cy="284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asted-movie.png" descr="pasted-movie.png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564177" y="2670542"/>
            <a:ext cx="345098" cy="330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8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Introduction to qPCR Data</a:t>
            </a:r>
          </a:p>
        </p:txBody>
      </p:sp>
      <p:sp>
        <p:nvSpPr>
          <p:cNvPr id="240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242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43" name="Text 7"/>
          <p:cNvSpPr txBox="1"/>
          <p:nvPr/>
        </p:nvSpPr>
        <p:spPr>
          <a:xfrm>
            <a:off x="502919" y="1025905"/>
            <a:ext cx="41148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What is qPCR?</a:t>
            </a:r>
          </a:p>
        </p:txBody>
      </p:sp>
      <p:sp>
        <p:nvSpPr>
          <p:cNvPr id="244" name="Text 8"/>
          <p:cNvSpPr txBox="1"/>
          <p:nvPr/>
        </p:nvSpPr>
        <p:spPr>
          <a:xfrm>
            <a:off x="502919" y="1325880"/>
            <a:ext cx="4820197" cy="3432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1000">
                <a:solidFill>
                  <a:srgbClr val="3D3832"/>
                </a:solidFill>
              </a:defRPr>
            </a:lvl1pPr>
          </a:lstStyle>
          <a:p>
            <a:pPr/>
            <a:r>
              <a:t>Quantitative Polymerase Chain Reaction (qPCR) measures gene expression levels in real time. Determines how much of a specific mRNA is present in your sample.</a:t>
            </a:r>
          </a:p>
        </p:txBody>
      </p:sp>
      <p:sp>
        <p:nvSpPr>
          <p:cNvPr id="245" name="Shape 9"/>
          <p:cNvSpPr/>
          <p:nvPr/>
        </p:nvSpPr>
        <p:spPr>
          <a:xfrm>
            <a:off x="807719" y="1784858"/>
            <a:ext cx="1554481" cy="536986"/>
          </a:xfrm>
          <a:prstGeom prst="roundRect">
            <a:avLst>
              <a:gd name="adj" fmla="val 10218"/>
            </a:avLst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10"/>
          <p:cNvSpPr txBox="1"/>
          <p:nvPr/>
        </p:nvSpPr>
        <p:spPr>
          <a:xfrm>
            <a:off x="853439" y="1817687"/>
            <a:ext cx="1463042" cy="407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10000"/>
              </a:lnSpc>
              <a:defRPr b="1" sz="1000">
                <a:solidFill>
                  <a:srgbClr val="FFFFFF"/>
                </a:solidFill>
              </a:defRPr>
            </a:pPr>
            <a:r>
              <a:t>RNA</a:t>
            </a:r>
          </a:p>
          <a:p>
            <a:pPr algn="ctr">
              <a:lnSpc>
                <a:spcPct val="110000"/>
              </a:lnSpc>
              <a:defRPr b="1" sz="1000">
                <a:solidFill>
                  <a:srgbClr val="FFFFFF"/>
                </a:solidFill>
              </a:defRPr>
            </a:pPr>
            <a:r>
              <a:t>Extraction</a:t>
            </a:r>
          </a:p>
        </p:txBody>
      </p:sp>
      <p:sp>
        <p:nvSpPr>
          <p:cNvPr id="247" name="Text 11"/>
          <p:cNvSpPr txBox="1"/>
          <p:nvPr/>
        </p:nvSpPr>
        <p:spPr>
          <a:xfrm>
            <a:off x="2407920" y="1929210"/>
            <a:ext cx="2286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8A827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48" name="Shape 12"/>
          <p:cNvSpPr/>
          <p:nvPr/>
        </p:nvSpPr>
        <p:spPr>
          <a:xfrm>
            <a:off x="2682239" y="1784858"/>
            <a:ext cx="1554481" cy="536986"/>
          </a:xfrm>
          <a:prstGeom prst="roundRect">
            <a:avLst>
              <a:gd name="adj" fmla="val 10218"/>
            </a:avLst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9" name="Text 13"/>
          <p:cNvSpPr txBox="1"/>
          <p:nvPr/>
        </p:nvSpPr>
        <p:spPr>
          <a:xfrm>
            <a:off x="2727960" y="1817687"/>
            <a:ext cx="1463041" cy="407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10000"/>
              </a:lnSpc>
              <a:defRPr b="1" sz="1000">
                <a:solidFill>
                  <a:srgbClr val="FFFFFF"/>
                </a:solidFill>
              </a:defRPr>
            </a:pPr>
            <a:r>
              <a:t>Reverse</a:t>
            </a:r>
          </a:p>
          <a:p>
            <a:pPr algn="ctr">
              <a:lnSpc>
                <a:spcPct val="110000"/>
              </a:lnSpc>
              <a:defRPr b="1" sz="1000">
                <a:solidFill>
                  <a:srgbClr val="FFFFFF"/>
                </a:solidFill>
              </a:defRPr>
            </a:pPr>
            <a:r>
              <a:t>Transcription</a:t>
            </a:r>
          </a:p>
        </p:txBody>
      </p:sp>
      <p:sp>
        <p:nvSpPr>
          <p:cNvPr id="250" name="Text 14"/>
          <p:cNvSpPr txBox="1"/>
          <p:nvPr/>
        </p:nvSpPr>
        <p:spPr>
          <a:xfrm>
            <a:off x="4282440" y="1929210"/>
            <a:ext cx="2286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8A827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1" name="Shape 15"/>
          <p:cNvSpPr/>
          <p:nvPr/>
        </p:nvSpPr>
        <p:spPr>
          <a:xfrm>
            <a:off x="4556759" y="1784858"/>
            <a:ext cx="1554481" cy="536986"/>
          </a:xfrm>
          <a:prstGeom prst="roundRect">
            <a:avLst>
              <a:gd name="adj" fmla="val 10218"/>
            </a:avLst>
          </a:prstGeom>
          <a:solidFill>
            <a:srgbClr val="0C33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2" name="Text 16"/>
          <p:cNvSpPr txBox="1"/>
          <p:nvPr/>
        </p:nvSpPr>
        <p:spPr>
          <a:xfrm>
            <a:off x="4602480" y="1817274"/>
            <a:ext cx="1463041" cy="407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10000"/>
              </a:lnSpc>
              <a:defRPr b="1" sz="1000">
                <a:solidFill>
                  <a:srgbClr val="FFFFFF"/>
                </a:solidFill>
              </a:defRPr>
            </a:pPr>
            <a:r>
              <a:t>qPCR</a:t>
            </a:r>
          </a:p>
          <a:p>
            <a:pPr algn="ctr">
              <a:lnSpc>
                <a:spcPct val="110000"/>
              </a:lnSpc>
              <a:defRPr b="1" sz="1000">
                <a:solidFill>
                  <a:srgbClr val="FFFFFF"/>
                </a:solidFill>
              </a:defRPr>
            </a:pPr>
            <a:r>
              <a:t>Amplification</a:t>
            </a:r>
          </a:p>
        </p:txBody>
      </p:sp>
      <p:sp>
        <p:nvSpPr>
          <p:cNvPr id="253" name="Text 17"/>
          <p:cNvSpPr txBox="1"/>
          <p:nvPr/>
        </p:nvSpPr>
        <p:spPr>
          <a:xfrm>
            <a:off x="6156960" y="1929210"/>
            <a:ext cx="22860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8A8279"/>
                </a:solidFill>
              </a:defRPr>
            </a:lvl1pPr>
          </a:lstStyle>
          <a:p>
            <a:pPr/>
            <a:r>
              <a:t>→</a:t>
            </a:r>
          </a:p>
        </p:txBody>
      </p:sp>
      <p:sp>
        <p:nvSpPr>
          <p:cNvPr id="254" name="Shape 18"/>
          <p:cNvSpPr/>
          <p:nvPr/>
        </p:nvSpPr>
        <p:spPr>
          <a:xfrm>
            <a:off x="6431279" y="1784858"/>
            <a:ext cx="1554481" cy="536986"/>
          </a:xfrm>
          <a:prstGeom prst="roundRect">
            <a:avLst>
              <a:gd name="adj" fmla="val 10218"/>
            </a:avLst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19"/>
          <p:cNvSpPr txBox="1"/>
          <p:nvPr/>
        </p:nvSpPr>
        <p:spPr>
          <a:xfrm>
            <a:off x="6477000" y="1849691"/>
            <a:ext cx="1463041" cy="4073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10000"/>
              </a:lnSpc>
              <a:defRPr b="1" sz="1000">
                <a:solidFill>
                  <a:srgbClr val="FFFFFF"/>
                </a:solidFill>
              </a:defRPr>
            </a:pPr>
            <a:r>
              <a:t>Fluorescence</a:t>
            </a:r>
          </a:p>
          <a:p>
            <a:pPr algn="ctr">
              <a:lnSpc>
                <a:spcPct val="110000"/>
              </a:lnSpc>
              <a:defRPr b="1" sz="1000">
                <a:solidFill>
                  <a:srgbClr val="FFFFFF"/>
                </a:solidFill>
              </a:defRPr>
            </a:pPr>
            <a:r>
              <a:t>Detection</a:t>
            </a:r>
          </a:p>
        </p:txBody>
      </p:sp>
      <p:sp>
        <p:nvSpPr>
          <p:cNvPr id="256" name="Text 20"/>
          <p:cNvSpPr txBox="1"/>
          <p:nvPr/>
        </p:nvSpPr>
        <p:spPr>
          <a:xfrm>
            <a:off x="502919" y="2863548"/>
            <a:ext cx="1799408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What data do you get?</a:t>
            </a:r>
          </a:p>
        </p:txBody>
      </p:sp>
      <p:sp>
        <p:nvSpPr>
          <p:cNvPr id="257" name="Shape 21"/>
          <p:cNvSpPr/>
          <p:nvPr/>
        </p:nvSpPr>
        <p:spPr>
          <a:xfrm>
            <a:off x="500791" y="3714427"/>
            <a:ext cx="3644455" cy="274321"/>
          </a:xfrm>
          <a:prstGeom prst="roundRect">
            <a:avLst>
              <a:gd name="adj" fmla="val 16667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8" name="Text 22"/>
          <p:cNvSpPr txBox="1"/>
          <p:nvPr/>
        </p:nvSpPr>
        <p:spPr>
          <a:xfrm>
            <a:off x="592231" y="3788087"/>
            <a:ext cx="357505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Lower Ct → a higher initial concentration of the material</a:t>
            </a:r>
          </a:p>
        </p:txBody>
      </p:sp>
      <p:sp>
        <p:nvSpPr>
          <p:cNvPr id="259" name="Text 9"/>
          <p:cNvSpPr txBox="1"/>
          <p:nvPr/>
        </p:nvSpPr>
        <p:spPr>
          <a:xfrm>
            <a:off x="4917440" y="2651760"/>
            <a:ext cx="50292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Example raw data</a:t>
            </a:r>
          </a:p>
        </p:txBody>
      </p:sp>
      <p:graphicFrame>
        <p:nvGraphicFramePr>
          <p:cNvPr id="260" name="Table 0"/>
          <p:cNvGraphicFramePr/>
          <p:nvPr/>
        </p:nvGraphicFramePr>
        <p:xfrm>
          <a:off x="4917440" y="2887979"/>
          <a:ext cx="3657601" cy="192024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371600"/>
                <a:gridCol w="1234440"/>
                <a:gridCol w="548640"/>
                <a:gridCol w="502919"/>
              </a:tblGrid>
              <a:tr h="23774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Gene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CT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900">
                          <a:solidFill>
                            <a:srgbClr val="FFFFFF"/>
                          </a:solidFill>
                        </a:rPr>
                        <a:t>Well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0C3354"/>
                          </a:solidFill>
                        </a:rPr>
                        <a:t>Cond 2 Rep 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Target Gene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22.04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A1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0C3354"/>
                          </a:solidFill>
                        </a:rPr>
                        <a:t>Cond 2 Rep 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Target Gene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22.07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A2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0C3354"/>
                          </a:solidFill>
                        </a:rPr>
                        <a:t>Cond 2 Rep 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House Keeping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7.78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A3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0C3354"/>
                          </a:solidFill>
                        </a:rPr>
                        <a:t>Cond 2 Rep 1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House Keeping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7.97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A4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D97706"/>
                          </a:solidFill>
                        </a:rPr>
                        <a:t>Cond 2 Rep 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Target Gene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22.56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A5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D97706"/>
                          </a:solidFill>
                        </a:rPr>
                        <a:t>Cond 2 Rep 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Target Gene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22.34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A6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D97706"/>
                          </a:solidFill>
                        </a:rPr>
                        <a:t>Cond 2 Rep 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House Keeping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7.73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A7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800">
                          <a:solidFill>
                            <a:srgbClr val="D97706"/>
                          </a:solidFill>
                        </a:rPr>
                        <a:t>Cond 2 Rep 2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House Keeping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7.97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800">
                          <a:solidFill>
                            <a:srgbClr val="1A1714"/>
                          </a:solidFill>
                        </a:rPr>
                        <a:t>A8</a:t>
                      </a:r>
                    </a:p>
                  </a:txBody>
                  <a:tcPr marL="45720" marR="45720" marT="45720" marB="45720" anchor="ctr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261" name="Text 32"/>
          <p:cNvSpPr txBox="1"/>
          <p:nvPr/>
        </p:nvSpPr>
        <p:spPr>
          <a:xfrm>
            <a:off x="6842252" y="2698540"/>
            <a:ext cx="12801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0C3354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62" name="Text 33"/>
          <p:cNvSpPr txBox="1"/>
          <p:nvPr/>
        </p:nvSpPr>
        <p:spPr>
          <a:xfrm>
            <a:off x="6357620" y="2488262"/>
            <a:ext cx="1097281" cy="231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80000"/>
              </a:lnSpc>
              <a:defRPr b="1" sz="900">
                <a:solidFill>
                  <a:srgbClr val="0C3354"/>
                </a:solidFill>
              </a:defRPr>
            </a:pPr>
            <a:r>
              <a:t>Which probe</a:t>
            </a:r>
          </a:p>
          <a:p>
            <a:pPr algn="ctr">
              <a:lnSpc>
                <a:spcPct val="80000"/>
              </a:lnSpc>
              <a:defRPr b="1" sz="900">
                <a:solidFill>
                  <a:srgbClr val="0C3354"/>
                </a:solidFill>
              </a:defRPr>
            </a:pPr>
            <a:r>
              <a:t>was in the well</a:t>
            </a:r>
          </a:p>
        </p:txBody>
      </p:sp>
      <p:sp>
        <p:nvSpPr>
          <p:cNvPr id="263" name="Text 34"/>
          <p:cNvSpPr txBox="1"/>
          <p:nvPr/>
        </p:nvSpPr>
        <p:spPr>
          <a:xfrm>
            <a:off x="7733792" y="2698540"/>
            <a:ext cx="12801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D41B2C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64" name="Text 35"/>
          <p:cNvSpPr txBox="1"/>
          <p:nvPr/>
        </p:nvSpPr>
        <p:spPr>
          <a:xfrm>
            <a:off x="7386319" y="2488262"/>
            <a:ext cx="822961" cy="231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80000"/>
              </a:lnSpc>
              <a:defRPr b="1" sz="900">
                <a:solidFill>
                  <a:srgbClr val="D41B2C"/>
                </a:solidFill>
              </a:defRPr>
            </a:pPr>
            <a:r>
              <a:t>Machine</a:t>
            </a:r>
          </a:p>
          <a:p>
            <a:pPr algn="ctr">
              <a:lnSpc>
                <a:spcPct val="80000"/>
              </a:lnSpc>
              <a:defRPr b="1" sz="900">
                <a:solidFill>
                  <a:srgbClr val="D41B2C"/>
                </a:solidFill>
              </a:defRPr>
            </a:pPr>
            <a:r>
              <a:t>output</a:t>
            </a:r>
          </a:p>
        </p:txBody>
      </p:sp>
      <p:sp>
        <p:nvSpPr>
          <p:cNvPr id="265" name="Text 36"/>
          <p:cNvSpPr txBox="1"/>
          <p:nvPr/>
        </p:nvSpPr>
        <p:spPr>
          <a:xfrm>
            <a:off x="8259571" y="2698540"/>
            <a:ext cx="12801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8279"/>
                </a:solidFill>
              </a:defRPr>
            </a:lvl1pPr>
          </a:lstStyle>
          <a:p>
            <a:pPr/>
            <a:r>
              <a:t>↓</a:t>
            </a:r>
          </a:p>
        </p:txBody>
      </p:sp>
      <p:sp>
        <p:nvSpPr>
          <p:cNvPr id="266" name="Text 37"/>
          <p:cNvSpPr txBox="1"/>
          <p:nvPr/>
        </p:nvSpPr>
        <p:spPr>
          <a:xfrm>
            <a:off x="7912100" y="2488262"/>
            <a:ext cx="822961" cy="231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lnSpc>
                <a:spcPct val="80000"/>
              </a:lnSpc>
              <a:defRPr b="1" sz="900">
                <a:solidFill>
                  <a:srgbClr val="8A8279"/>
                </a:solidFill>
              </a:defRPr>
            </a:pPr>
            <a:r>
              <a:t>Physical</a:t>
            </a:r>
          </a:p>
          <a:p>
            <a:pPr algn="ctr">
              <a:lnSpc>
                <a:spcPct val="80000"/>
              </a:lnSpc>
              <a:defRPr b="1" sz="900">
                <a:solidFill>
                  <a:srgbClr val="8A8279"/>
                </a:solidFill>
              </a:defRPr>
            </a:pPr>
            <a:r>
              <a:t>position</a:t>
            </a:r>
          </a:p>
        </p:txBody>
      </p:sp>
      <p:sp>
        <p:nvSpPr>
          <p:cNvPr id="267" name="Shape 38"/>
          <p:cNvSpPr/>
          <p:nvPr/>
        </p:nvSpPr>
        <p:spPr>
          <a:xfrm>
            <a:off x="1225776" y="4060183"/>
            <a:ext cx="2211442" cy="458045"/>
          </a:xfrm>
          <a:prstGeom prst="roundRect">
            <a:avLst>
              <a:gd name="adj" fmla="val 5989"/>
            </a:avLst>
          </a:prstGeom>
          <a:solidFill>
            <a:srgbClr val="FDF4E8"/>
          </a:solidFill>
          <a:ln w="635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39"/>
          <p:cNvSpPr txBox="1"/>
          <p:nvPr/>
        </p:nvSpPr>
        <p:spPr>
          <a:xfrm>
            <a:off x="1313648" y="4111086"/>
            <a:ext cx="2035697" cy="323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ctr">
              <a:defRPr sz="700">
                <a:solidFill>
                  <a:srgbClr val="3D3832"/>
                </a:solidFill>
              </a:defRPr>
            </a:pPr>
            <a:r>
              <a:t>· 1 sample = 4 wells (2 genes × 2 tech reps)  </a:t>
            </a:r>
          </a:p>
          <a:p>
            <a:pPr algn="ctr">
              <a:defRPr sz="700">
                <a:solidFill>
                  <a:srgbClr val="3D3832"/>
                </a:solidFill>
              </a:defRPr>
            </a:pPr>
            <a:r>
              <a:t>·  1 condition = 12 wells (4 wells × 3 bio reps)  </a:t>
            </a:r>
          </a:p>
          <a:p>
            <a:pPr algn="ctr">
              <a:defRPr sz="700">
                <a:solidFill>
                  <a:srgbClr val="3D3832"/>
                </a:solidFill>
              </a:defRPr>
            </a:pPr>
            <a:r>
              <a:t>·  Full experiment = 48 wells</a:t>
            </a:r>
          </a:p>
        </p:txBody>
      </p:sp>
      <p:sp>
        <p:nvSpPr>
          <p:cNvPr id="269" name="Shape 21"/>
          <p:cNvSpPr/>
          <p:nvPr/>
        </p:nvSpPr>
        <p:spPr>
          <a:xfrm>
            <a:off x="497393" y="3277557"/>
            <a:ext cx="1361282" cy="274321"/>
          </a:xfrm>
          <a:prstGeom prst="roundRect">
            <a:avLst>
              <a:gd name="adj" fmla="val 16667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22"/>
          <p:cNvSpPr txBox="1"/>
          <p:nvPr/>
        </p:nvSpPr>
        <p:spPr>
          <a:xfrm>
            <a:off x="540573" y="3351217"/>
            <a:ext cx="13190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Ct → Cycle Threshold</a:t>
            </a:r>
          </a:p>
        </p:txBody>
      </p:sp>
      <p:sp>
        <p:nvSpPr>
          <p:cNvPr id="271" name="dataset from Dai lab, BioE, NEU"/>
          <p:cNvSpPr txBox="1"/>
          <p:nvPr/>
        </p:nvSpPr>
        <p:spPr>
          <a:xfrm>
            <a:off x="3232889" y="4599779"/>
            <a:ext cx="1565584" cy="212265"/>
          </a:xfrm>
          <a:prstGeom prst="rect">
            <a:avLst/>
          </a:prstGeom>
          <a:gradFill>
            <a:gsLst>
              <a:gs pos="0">
                <a:srgbClr val="70A6DB"/>
              </a:gs>
              <a:gs pos="50000">
                <a:srgbClr val="559BDB"/>
              </a:gs>
              <a:gs pos="100000">
                <a:srgbClr val="448AC9"/>
              </a:gs>
            </a:gsLst>
            <a:lin ang="5400000"/>
          </a:gradFill>
          <a:ln w="6350">
            <a:solidFill>
              <a:schemeClr val="accent5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900">
                <a:solidFill>
                  <a:srgbClr val="FFFFFF"/>
                </a:solidFill>
              </a:defRPr>
            </a:lvl1pPr>
          </a:lstStyle>
          <a:p>
            <a:pPr/>
            <a:r>
              <a:t>dataset from Dai lab, BioE, NEU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6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7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Quality Control: Data Visualization</a:t>
            </a:r>
          </a:p>
        </p:txBody>
      </p:sp>
      <p:sp>
        <p:nvSpPr>
          <p:cNvPr id="278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9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280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81" name="Shape 7"/>
          <p:cNvSpPr/>
          <p:nvPr/>
        </p:nvSpPr>
        <p:spPr>
          <a:xfrm>
            <a:off x="415275" y="1121640"/>
            <a:ext cx="3274919" cy="3242517"/>
          </a:xfrm>
          <a:prstGeom prst="roundRect">
            <a:avLst>
              <a:gd name="adj" fmla="val 2828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2" name="Text 8"/>
          <p:cNvSpPr txBox="1"/>
          <p:nvPr/>
        </p:nvSpPr>
        <p:spPr>
          <a:xfrm>
            <a:off x="497840" y="1155398"/>
            <a:ext cx="2874293" cy="3175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pandas as pd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import matplotlib.pyplot as plt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df = pd.read_excel("Sample_Data.ods",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                engine="odf")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target = df[df["Gene"]=="Target Gene"]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house  = df[df["Gene"]=="House Keeping Gene"]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fig, ax = plt.subplots(figsize=(8, 5))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ax.scatter(range(len(target)),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target["CT"].tolist(),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c="#D41B2C", label="Target", s=60)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ax.scatter(range(len(house)),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house["CT"].tolist(),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c="#D97706", marker="D", label="HK")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ax.set_ylabel("CT Value")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ax.legend()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plt.show()</a:t>
            </a:r>
          </a:p>
        </p:txBody>
      </p:sp>
      <p:sp>
        <p:nvSpPr>
          <p:cNvPr id="283" name="Shape 9"/>
          <p:cNvSpPr/>
          <p:nvPr/>
        </p:nvSpPr>
        <p:spPr>
          <a:xfrm>
            <a:off x="4234679" y="4120848"/>
            <a:ext cx="4114801" cy="256033"/>
          </a:xfrm>
          <a:prstGeom prst="roundRect">
            <a:avLst>
              <a:gd name="adj" fmla="val 17857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4" name="Text 10"/>
          <p:cNvSpPr txBox="1"/>
          <p:nvPr/>
        </p:nvSpPr>
        <p:spPr>
          <a:xfrm>
            <a:off x="4326119" y="4182316"/>
            <a:ext cx="39319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ax.scatter(x, y, c=color, s=size)</a:t>
            </a:r>
          </a:p>
        </p:txBody>
      </p:sp>
      <p:sp>
        <p:nvSpPr>
          <p:cNvPr id="285" name="Shape 11"/>
          <p:cNvSpPr/>
          <p:nvPr/>
        </p:nvSpPr>
        <p:spPr>
          <a:xfrm>
            <a:off x="411479" y="4401470"/>
            <a:ext cx="8321042" cy="420625"/>
          </a:xfrm>
          <a:prstGeom prst="roundRect">
            <a:avLst>
              <a:gd name="adj" fmla="val 13043"/>
            </a:avLst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86" name="Text 12"/>
          <p:cNvSpPr txBox="1"/>
          <p:nvPr/>
        </p:nvSpPr>
        <p:spPr>
          <a:xfrm>
            <a:off x="640079" y="4477162"/>
            <a:ext cx="7863841" cy="269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Visualize BEFORE you analyze. Catch errors early!</a:t>
            </a:r>
          </a:p>
        </p:txBody>
      </p:sp>
      <p:sp>
        <p:nvSpPr>
          <p:cNvPr id="287" name="Text 9"/>
          <p:cNvSpPr txBox="1"/>
          <p:nvPr/>
        </p:nvSpPr>
        <p:spPr>
          <a:xfrm>
            <a:off x="439927" y="906526"/>
            <a:ext cx="1510784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 Sample Code Block</a:t>
            </a:r>
          </a:p>
        </p:txBody>
      </p:sp>
      <p:pic>
        <p:nvPicPr>
          <p:cNvPr id="288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122341" y="889714"/>
            <a:ext cx="4025444" cy="320756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3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4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ΔΔCt Pipeline: Data Walkthrough</a:t>
            </a:r>
          </a:p>
        </p:txBody>
      </p:sp>
      <p:sp>
        <p:nvSpPr>
          <p:cNvPr id="295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297" name="Rectangle 6"/>
          <p:cNvSpPr/>
          <p:nvPr/>
        </p:nvSpPr>
        <p:spPr>
          <a:xfrm>
            <a:off x="6681750" y="2056336"/>
            <a:ext cx="2350001" cy="300001"/>
          </a:xfrm>
          <a:prstGeom prst="rect">
            <a:avLst/>
          </a:prstGeom>
          <a:solidFill>
            <a:srgbClr val="F5F3F0"/>
          </a:solidFill>
          <a:ln w="6350">
            <a:solidFill>
              <a:srgbClr val="E2E8F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8" name="Rectangle 7"/>
          <p:cNvSpPr/>
          <p:nvPr/>
        </p:nvSpPr>
        <p:spPr>
          <a:xfrm>
            <a:off x="6681750" y="2056336"/>
            <a:ext cx="50001" cy="300001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9" name="TextBox 8"/>
          <p:cNvSpPr txBox="1"/>
          <p:nvPr/>
        </p:nvSpPr>
        <p:spPr>
          <a:xfrm>
            <a:off x="6756750" y="2071336"/>
            <a:ext cx="225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Step 1</a:t>
            </a:r>
          </a:p>
        </p:txBody>
      </p:sp>
      <p:sp>
        <p:nvSpPr>
          <p:cNvPr id="300" name="TextBox 9"/>
          <p:cNvSpPr txBox="1"/>
          <p:nvPr/>
        </p:nvSpPr>
        <p:spPr>
          <a:xfrm>
            <a:off x="6756750" y="2201336"/>
            <a:ext cx="2250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A1B2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ΔCt = Ct(target) − Ct(HK)</a:t>
            </a:r>
          </a:p>
        </p:txBody>
      </p:sp>
      <p:sp>
        <p:nvSpPr>
          <p:cNvPr id="301" name="Rectangle 10"/>
          <p:cNvSpPr/>
          <p:nvPr/>
        </p:nvSpPr>
        <p:spPr>
          <a:xfrm>
            <a:off x="6681750" y="2446336"/>
            <a:ext cx="2350001" cy="300001"/>
          </a:xfrm>
          <a:prstGeom prst="rect">
            <a:avLst/>
          </a:prstGeom>
          <a:solidFill>
            <a:srgbClr val="F5F3F0"/>
          </a:solidFill>
          <a:ln w="6350">
            <a:solidFill>
              <a:srgbClr val="E2E8F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2" name="Rectangle 11"/>
          <p:cNvSpPr/>
          <p:nvPr/>
        </p:nvSpPr>
        <p:spPr>
          <a:xfrm>
            <a:off x="6681750" y="2446336"/>
            <a:ext cx="50001" cy="300001"/>
          </a:xfrm>
          <a:prstGeom prst="rect">
            <a:avLst/>
          </a:prstGeom>
          <a:solidFill>
            <a:srgbClr val="0C3354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3" name="TextBox 12"/>
          <p:cNvSpPr txBox="1"/>
          <p:nvPr/>
        </p:nvSpPr>
        <p:spPr>
          <a:xfrm>
            <a:off x="6756750" y="2461336"/>
            <a:ext cx="225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0C33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Step 2</a:t>
            </a:r>
          </a:p>
        </p:txBody>
      </p:sp>
      <p:sp>
        <p:nvSpPr>
          <p:cNvPr id="304" name="TextBox 13"/>
          <p:cNvSpPr txBox="1"/>
          <p:nvPr/>
        </p:nvSpPr>
        <p:spPr>
          <a:xfrm>
            <a:off x="6756750" y="2591336"/>
            <a:ext cx="2250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A1B2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ΔΔCt = ΔCt − ΔCt(ctrl)</a:t>
            </a:r>
          </a:p>
        </p:txBody>
      </p:sp>
      <p:sp>
        <p:nvSpPr>
          <p:cNvPr id="305" name="Rectangle 14"/>
          <p:cNvSpPr/>
          <p:nvPr/>
        </p:nvSpPr>
        <p:spPr>
          <a:xfrm>
            <a:off x="6681750" y="2836336"/>
            <a:ext cx="2350001" cy="300001"/>
          </a:xfrm>
          <a:prstGeom prst="rect">
            <a:avLst/>
          </a:prstGeom>
          <a:solidFill>
            <a:srgbClr val="F5F3F0"/>
          </a:solidFill>
          <a:ln w="6350">
            <a:solidFill>
              <a:srgbClr val="E2E8F0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6" name="Rectangle 15"/>
          <p:cNvSpPr/>
          <p:nvPr/>
        </p:nvSpPr>
        <p:spPr>
          <a:xfrm>
            <a:off x="6681750" y="2836336"/>
            <a:ext cx="50001" cy="300001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7" name="TextBox 16"/>
          <p:cNvSpPr txBox="1"/>
          <p:nvPr/>
        </p:nvSpPr>
        <p:spPr>
          <a:xfrm>
            <a:off x="6756750" y="2851336"/>
            <a:ext cx="225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9770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Step 3</a:t>
            </a:r>
          </a:p>
        </p:txBody>
      </p:sp>
      <p:sp>
        <p:nvSpPr>
          <p:cNvPr id="308" name="TextBox 17"/>
          <p:cNvSpPr txBox="1"/>
          <p:nvPr/>
        </p:nvSpPr>
        <p:spPr>
          <a:xfrm>
            <a:off x="6756750" y="2981336"/>
            <a:ext cx="2250001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1A1B2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2^(−ΔΔCt)</a:t>
            </a:r>
          </a:p>
        </p:txBody>
      </p:sp>
      <p:graphicFrame>
        <p:nvGraphicFramePr>
          <p:cNvPr id="309" name="Table 20"/>
          <p:cNvGraphicFramePr/>
          <p:nvPr/>
        </p:nvGraphicFramePr>
        <p:xfrm>
          <a:off x="150000" y="900000"/>
          <a:ext cx="1699998" cy="525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566666"/>
                <a:gridCol w="566666"/>
                <a:gridCol w="566666"/>
              </a:tblGrid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Sample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Gene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CT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Target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22.04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Target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22.07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HK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7.78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HK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7.97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</a:tr>
            </a:tbl>
          </a:graphicData>
        </a:graphic>
      </p:graphicFrame>
      <p:sp>
        <p:nvSpPr>
          <p:cNvPr id="310" name="Right Arrow 21"/>
          <p:cNvSpPr/>
          <p:nvPr/>
        </p:nvSpPr>
        <p:spPr>
          <a:xfrm>
            <a:off x="1829999" y="1619999"/>
            <a:ext cx="680001" cy="2000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D41B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1" name="TextBox 22"/>
          <p:cNvSpPr txBox="1"/>
          <p:nvPr/>
        </p:nvSpPr>
        <p:spPr>
          <a:xfrm>
            <a:off x="1859999" y="1807699"/>
            <a:ext cx="78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Step 1: ΔCt</a:t>
            </a:r>
          </a:p>
        </p:txBody>
      </p:sp>
      <p:graphicFrame>
        <p:nvGraphicFramePr>
          <p:cNvPr id="312" name="Table 23"/>
          <p:cNvGraphicFramePr/>
          <p:nvPr/>
        </p:nvGraphicFramePr>
        <p:xfrm>
          <a:off x="2650000" y="900000"/>
          <a:ext cx="2600001" cy="13650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650000"/>
                <a:gridCol w="650000"/>
                <a:gridCol w="650000"/>
                <a:gridCol w="650000"/>
              </a:tblGrid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Sample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ct_target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ct_hk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dCT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22.06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7.88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14.18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22.45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7.85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14.60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22.57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7.90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14.67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3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20.99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7.93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13.06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3 R2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20.82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8.46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12.36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3 R3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21.94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8.49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13.46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1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27.04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7.87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19.17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1 R2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26.54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7.71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18.82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1 R3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26.53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7.77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18.76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Control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30.42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7.63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22.79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Control R2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30.14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7.46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22.68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Control R3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30.30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7.52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7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22.78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313" name="Right Brace 24"/>
          <p:cNvSpPr/>
          <p:nvPr/>
        </p:nvSpPr>
        <p:spPr>
          <a:xfrm>
            <a:off x="5266349" y="2125521"/>
            <a:ext cx="140001" cy="315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358"/>
                  <a:pt x="10800" y="800"/>
                </a:cubicBezTo>
                <a:lnTo>
                  <a:pt x="10800" y="10000"/>
                </a:lnTo>
                <a:cubicBezTo>
                  <a:pt x="10800" y="10442"/>
                  <a:pt x="15635" y="10800"/>
                  <a:pt x="21600" y="10800"/>
                </a:cubicBezTo>
                <a:cubicBezTo>
                  <a:pt x="15635" y="10800"/>
                  <a:pt x="10800" y="11158"/>
                  <a:pt x="10800" y="11600"/>
                </a:cubicBezTo>
                <a:lnTo>
                  <a:pt x="10800" y="20800"/>
                </a:lnTo>
                <a:cubicBezTo>
                  <a:pt x="10800" y="21242"/>
                  <a:pt x="5965" y="21600"/>
                  <a:pt x="0" y="21600"/>
                </a:cubicBezTo>
              </a:path>
            </a:pathLst>
          </a:custGeom>
          <a:ln w="19050">
            <a:solidFill>
              <a:srgbClr val="D41B2C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4" name="TextBox 25"/>
          <p:cNvSpPr txBox="1"/>
          <p:nvPr/>
        </p:nvSpPr>
        <p:spPr>
          <a:xfrm>
            <a:off x="5419524" y="2126489"/>
            <a:ext cx="149628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8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control_mean</a:t>
            </a:r>
          </a:p>
          <a:p>
            <a:pPr>
              <a:defRPr b="1" sz="8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pPr>
            <a:r>
              <a:t>ΔCt(ctrl) = = 22.749</a:t>
            </a:r>
          </a:p>
        </p:txBody>
      </p:sp>
      <p:sp>
        <p:nvSpPr>
          <p:cNvPr id="315" name="Down Arrow 27"/>
          <p:cNvSpPr/>
          <p:nvPr/>
        </p:nvSpPr>
        <p:spPr>
          <a:xfrm>
            <a:off x="3600000" y="2450000"/>
            <a:ext cx="200001" cy="400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6200"/>
                </a:moveTo>
                <a:lnTo>
                  <a:pt x="5400" y="162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6200"/>
                </a:lnTo>
                <a:lnTo>
                  <a:pt x="21600" y="162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D41B2C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16" name="TextBox 28"/>
          <p:cNvSpPr txBox="1"/>
          <p:nvPr/>
        </p:nvSpPr>
        <p:spPr>
          <a:xfrm>
            <a:off x="1779099" y="2532836"/>
            <a:ext cx="250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0C335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Step 2: ΔΔCt = ΔCt − ΔCt(ctrl)</a:t>
            </a:r>
          </a:p>
        </p:txBody>
      </p:sp>
      <p:sp>
        <p:nvSpPr>
          <p:cNvPr id="317" name="TextBox 29"/>
          <p:cNvSpPr txBox="1"/>
          <p:nvPr/>
        </p:nvSpPr>
        <p:spPr>
          <a:xfrm>
            <a:off x="1779099" y="2640163"/>
            <a:ext cx="250000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Step 3: 2^(−ddCT)</a:t>
            </a:r>
          </a:p>
        </p:txBody>
      </p:sp>
      <p:graphicFrame>
        <p:nvGraphicFramePr>
          <p:cNvPr id="318" name="Table 30"/>
          <p:cNvGraphicFramePr/>
          <p:nvPr/>
        </p:nvGraphicFramePr>
        <p:xfrm>
          <a:off x="150000" y="2879999"/>
          <a:ext cx="4900001" cy="1365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225000"/>
                <a:gridCol w="1225000"/>
                <a:gridCol w="1225000"/>
                <a:gridCol w="1225000"/>
              </a:tblGrid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Sample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dCT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ddCT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2^(-ddCT)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D41B2C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14.18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−8.57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379.2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14.60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−8.15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283.7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 R3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14.67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−8.08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270.6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3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13.06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−9.69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828.1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3 R2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12.36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−10.39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1342.8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3 R3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13.46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−9.29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627.0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1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19.17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−3.58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12.0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1 R2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18.82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−3.93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15.2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1 R3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18.76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−3.99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15.9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Control R1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22.79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0.04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Control R2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22.68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−0.07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  <a:tr h="1050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Control R3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22.78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5F3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0.03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800">
                          <a:solidFill>
                            <a:srgbClr val="1A1B26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1.0</a:t>
                      </a:r>
                    </a:p>
                  </a:txBody>
                  <a:tcPr marL="6096" marR="6096" marT="6096" marB="6096" anchor="ctr" anchorCtr="0" horzOverflow="overflow">
                    <a:lnL w="6350">
                      <a:solidFill>
                        <a:srgbClr val="E2E8F0"/>
                      </a:solidFill>
                    </a:lnL>
                    <a:lnR w="6350">
                      <a:solidFill>
                        <a:srgbClr val="E2E8F0"/>
                      </a:solidFill>
                    </a:lnR>
                    <a:lnT w="6350">
                      <a:solidFill>
                        <a:srgbClr val="E2E8F0"/>
                      </a:solidFill>
                    </a:lnT>
                    <a:lnB w="6350">
                      <a:solidFill>
                        <a:srgbClr val="E2E8F0"/>
                      </a:solidFill>
                    </a:lnB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319" name="Right Brace 31"/>
          <p:cNvSpPr/>
          <p:nvPr/>
        </p:nvSpPr>
        <p:spPr>
          <a:xfrm>
            <a:off x="5065000" y="2996708"/>
            <a:ext cx="140001" cy="460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358"/>
                  <a:pt x="10800" y="800"/>
                </a:cubicBezTo>
                <a:lnTo>
                  <a:pt x="10800" y="10000"/>
                </a:lnTo>
                <a:cubicBezTo>
                  <a:pt x="10800" y="10442"/>
                  <a:pt x="15635" y="10800"/>
                  <a:pt x="21600" y="10800"/>
                </a:cubicBezTo>
                <a:cubicBezTo>
                  <a:pt x="15635" y="10800"/>
                  <a:pt x="10800" y="11158"/>
                  <a:pt x="10800" y="11600"/>
                </a:cubicBezTo>
                <a:lnTo>
                  <a:pt x="10800" y="20800"/>
                </a:lnTo>
                <a:cubicBezTo>
                  <a:pt x="10800" y="21242"/>
                  <a:pt x="5965" y="21600"/>
                  <a:pt x="0" y="21600"/>
                </a:cubicBezTo>
              </a:path>
            </a:pathLst>
          </a:custGeom>
          <a:ln w="19050">
            <a:solidFill>
              <a:srgbClr val="D41B2C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0" name="TextBox 32"/>
          <p:cNvSpPr txBox="1"/>
          <p:nvPr/>
        </p:nvSpPr>
        <p:spPr>
          <a:xfrm>
            <a:off x="5230000" y="3103702"/>
            <a:ext cx="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Cond 2</a:t>
            </a:r>
          </a:p>
        </p:txBody>
      </p:sp>
      <p:sp>
        <p:nvSpPr>
          <p:cNvPr id="321" name="TextBox 33"/>
          <p:cNvSpPr txBox="1"/>
          <p:nvPr/>
        </p:nvSpPr>
        <p:spPr>
          <a:xfrm>
            <a:off x="5230000" y="3223702"/>
            <a:ext cx="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D41B2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Avg: 311</a:t>
            </a:r>
          </a:p>
        </p:txBody>
      </p:sp>
      <p:sp>
        <p:nvSpPr>
          <p:cNvPr id="322" name="Right Brace 34"/>
          <p:cNvSpPr/>
          <p:nvPr/>
        </p:nvSpPr>
        <p:spPr>
          <a:xfrm>
            <a:off x="5065000" y="3457832"/>
            <a:ext cx="140001" cy="3773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358"/>
                  <a:pt x="10800" y="800"/>
                </a:cubicBezTo>
                <a:lnTo>
                  <a:pt x="10800" y="10000"/>
                </a:lnTo>
                <a:cubicBezTo>
                  <a:pt x="10800" y="10442"/>
                  <a:pt x="15635" y="10800"/>
                  <a:pt x="21600" y="10800"/>
                </a:cubicBezTo>
                <a:cubicBezTo>
                  <a:pt x="15635" y="10800"/>
                  <a:pt x="10800" y="11158"/>
                  <a:pt x="10800" y="11600"/>
                </a:cubicBezTo>
                <a:lnTo>
                  <a:pt x="10800" y="20800"/>
                </a:lnTo>
                <a:cubicBezTo>
                  <a:pt x="10800" y="21242"/>
                  <a:pt x="5965" y="21600"/>
                  <a:pt x="0" y="21600"/>
                </a:cubicBezTo>
              </a:path>
            </a:pathLst>
          </a:custGeom>
          <a:ln w="19050">
            <a:solidFill>
              <a:srgbClr val="0C3354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3" name="TextBox 35"/>
          <p:cNvSpPr txBox="1"/>
          <p:nvPr/>
        </p:nvSpPr>
        <p:spPr>
          <a:xfrm>
            <a:off x="5230000" y="3531808"/>
            <a:ext cx="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0C335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Cond 3</a:t>
            </a:r>
          </a:p>
        </p:txBody>
      </p:sp>
      <p:sp>
        <p:nvSpPr>
          <p:cNvPr id="324" name="TextBox 36"/>
          <p:cNvSpPr txBox="1"/>
          <p:nvPr/>
        </p:nvSpPr>
        <p:spPr>
          <a:xfrm>
            <a:off x="5230000" y="3651808"/>
            <a:ext cx="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0C335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Avg: 933</a:t>
            </a:r>
          </a:p>
        </p:txBody>
      </p:sp>
      <p:sp>
        <p:nvSpPr>
          <p:cNvPr id="325" name="Right Brace 37"/>
          <p:cNvSpPr/>
          <p:nvPr/>
        </p:nvSpPr>
        <p:spPr>
          <a:xfrm>
            <a:off x="5065000" y="3852920"/>
            <a:ext cx="140001" cy="494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358"/>
                  <a:pt x="10800" y="800"/>
                </a:cubicBezTo>
                <a:lnTo>
                  <a:pt x="10800" y="10000"/>
                </a:lnTo>
                <a:cubicBezTo>
                  <a:pt x="10800" y="10442"/>
                  <a:pt x="15635" y="10800"/>
                  <a:pt x="21600" y="10800"/>
                </a:cubicBezTo>
                <a:cubicBezTo>
                  <a:pt x="15635" y="10800"/>
                  <a:pt x="10800" y="11158"/>
                  <a:pt x="10800" y="11600"/>
                </a:cubicBezTo>
                <a:lnTo>
                  <a:pt x="10800" y="20800"/>
                </a:lnTo>
                <a:cubicBezTo>
                  <a:pt x="10800" y="21242"/>
                  <a:pt x="5965" y="21600"/>
                  <a:pt x="0" y="21600"/>
                </a:cubicBezTo>
              </a:path>
            </a:pathLst>
          </a:custGeom>
          <a:ln w="19050">
            <a:solidFill>
              <a:srgbClr val="D97706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6" name="TextBox 38"/>
          <p:cNvSpPr txBox="1"/>
          <p:nvPr/>
        </p:nvSpPr>
        <p:spPr>
          <a:xfrm>
            <a:off x="5230000" y="3998605"/>
            <a:ext cx="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D9770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Cond 1</a:t>
            </a:r>
          </a:p>
        </p:txBody>
      </p:sp>
      <p:sp>
        <p:nvSpPr>
          <p:cNvPr id="327" name="TextBox 39"/>
          <p:cNvSpPr txBox="1"/>
          <p:nvPr/>
        </p:nvSpPr>
        <p:spPr>
          <a:xfrm>
            <a:off x="5230000" y="4118605"/>
            <a:ext cx="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D97706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Avg: 14</a:t>
            </a:r>
          </a:p>
        </p:txBody>
      </p:sp>
      <p:sp>
        <p:nvSpPr>
          <p:cNvPr id="328" name="Right Brace 40"/>
          <p:cNvSpPr/>
          <p:nvPr/>
        </p:nvSpPr>
        <p:spPr>
          <a:xfrm>
            <a:off x="5065000" y="4359345"/>
            <a:ext cx="140001" cy="380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0"/>
                </a:moveTo>
                <a:cubicBezTo>
                  <a:pt x="5965" y="0"/>
                  <a:pt x="10800" y="358"/>
                  <a:pt x="10800" y="800"/>
                </a:cubicBezTo>
                <a:lnTo>
                  <a:pt x="10800" y="10000"/>
                </a:lnTo>
                <a:cubicBezTo>
                  <a:pt x="10800" y="10442"/>
                  <a:pt x="15635" y="10800"/>
                  <a:pt x="21600" y="10800"/>
                </a:cubicBezTo>
                <a:cubicBezTo>
                  <a:pt x="15635" y="10800"/>
                  <a:pt x="10800" y="11158"/>
                  <a:pt x="10800" y="11600"/>
                </a:cubicBezTo>
                <a:lnTo>
                  <a:pt x="10800" y="20800"/>
                </a:lnTo>
                <a:cubicBezTo>
                  <a:pt x="10800" y="21242"/>
                  <a:pt x="5965" y="21600"/>
                  <a:pt x="0" y="21600"/>
                </a:cubicBezTo>
              </a:path>
            </a:pathLst>
          </a:custGeom>
          <a:ln w="19050">
            <a:solidFill>
              <a:srgbClr val="475569"/>
            </a:solidFill>
            <a:miter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9" name="TextBox 41"/>
          <p:cNvSpPr txBox="1"/>
          <p:nvPr/>
        </p:nvSpPr>
        <p:spPr>
          <a:xfrm>
            <a:off x="5230000" y="4426320"/>
            <a:ext cx="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800">
                <a:solidFill>
                  <a:srgbClr val="47556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Control</a:t>
            </a:r>
          </a:p>
        </p:txBody>
      </p:sp>
      <p:sp>
        <p:nvSpPr>
          <p:cNvPr id="330" name="TextBox 42"/>
          <p:cNvSpPr txBox="1"/>
          <p:nvPr/>
        </p:nvSpPr>
        <p:spPr>
          <a:xfrm>
            <a:off x="5230000" y="4546320"/>
            <a:ext cx="9000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700">
                <a:solidFill>
                  <a:srgbClr val="475569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Avg: ~1</a:t>
            </a:r>
          </a:p>
        </p:txBody>
      </p:sp>
      <p:sp>
        <p:nvSpPr>
          <p:cNvPr id="331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6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7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qPCR Processing: The ΔΔCt Method</a:t>
            </a:r>
          </a:p>
        </p:txBody>
      </p:sp>
      <p:sp>
        <p:nvSpPr>
          <p:cNvPr id="338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39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340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41" name="Shape 7"/>
          <p:cNvSpPr/>
          <p:nvPr/>
        </p:nvSpPr>
        <p:spPr>
          <a:xfrm>
            <a:off x="411479" y="941832"/>
            <a:ext cx="2697482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2" name="Shape 8"/>
          <p:cNvSpPr/>
          <p:nvPr/>
        </p:nvSpPr>
        <p:spPr>
          <a:xfrm>
            <a:off x="411480" y="941832"/>
            <a:ext cx="50293" cy="713233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3" name="Text 9"/>
          <p:cNvSpPr txBox="1"/>
          <p:nvPr/>
        </p:nvSpPr>
        <p:spPr>
          <a:xfrm>
            <a:off x="576072" y="997203"/>
            <a:ext cx="23774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D41B2C"/>
                </a:solidFill>
              </a:defRPr>
            </a:lvl1pPr>
          </a:lstStyle>
          <a:p>
            <a:pPr/>
            <a:r>
              <a:t>Step 1</a:t>
            </a:r>
          </a:p>
        </p:txBody>
      </p:sp>
      <p:sp>
        <p:nvSpPr>
          <p:cNvPr id="344" name="Text 10"/>
          <p:cNvSpPr txBox="1"/>
          <p:nvPr/>
        </p:nvSpPr>
        <p:spPr>
          <a:xfrm>
            <a:off x="576072" y="1188719"/>
            <a:ext cx="2377440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ΔCt = Ct(target) − Ct(HK)</a:t>
            </a:r>
          </a:p>
        </p:txBody>
      </p:sp>
      <p:sp>
        <p:nvSpPr>
          <p:cNvPr id="345" name="Shape 11"/>
          <p:cNvSpPr/>
          <p:nvPr/>
        </p:nvSpPr>
        <p:spPr>
          <a:xfrm>
            <a:off x="3246120" y="941832"/>
            <a:ext cx="269748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46" name="Shape 12"/>
          <p:cNvSpPr/>
          <p:nvPr/>
        </p:nvSpPr>
        <p:spPr>
          <a:xfrm>
            <a:off x="3246120" y="941832"/>
            <a:ext cx="50293" cy="713233"/>
          </a:xfrm>
          <a:prstGeom prst="rect">
            <a:avLst/>
          </a:prstGeom>
          <a:solidFill>
            <a:srgbClr val="0C33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7" name="Text 13"/>
          <p:cNvSpPr txBox="1"/>
          <p:nvPr/>
        </p:nvSpPr>
        <p:spPr>
          <a:xfrm>
            <a:off x="3410711" y="997203"/>
            <a:ext cx="2377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0C3354"/>
                </a:solidFill>
              </a:defRPr>
            </a:lvl1pPr>
          </a:lstStyle>
          <a:p>
            <a:pPr/>
            <a:r>
              <a:t>Step 2</a:t>
            </a:r>
          </a:p>
        </p:txBody>
      </p:sp>
      <p:sp>
        <p:nvSpPr>
          <p:cNvPr id="348" name="Text 14"/>
          <p:cNvSpPr txBox="1"/>
          <p:nvPr/>
        </p:nvSpPr>
        <p:spPr>
          <a:xfrm>
            <a:off x="3410711" y="1188719"/>
            <a:ext cx="23774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ΔΔCt = ΔCt(treat) − ΔCt(ctrl)</a:t>
            </a:r>
          </a:p>
        </p:txBody>
      </p:sp>
      <p:sp>
        <p:nvSpPr>
          <p:cNvPr id="349" name="Shape 15"/>
          <p:cNvSpPr/>
          <p:nvPr/>
        </p:nvSpPr>
        <p:spPr>
          <a:xfrm>
            <a:off x="6080759" y="941832"/>
            <a:ext cx="2697481" cy="71323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350" name="Shape 16"/>
          <p:cNvSpPr/>
          <p:nvPr/>
        </p:nvSpPr>
        <p:spPr>
          <a:xfrm>
            <a:off x="6080759" y="941832"/>
            <a:ext cx="50293" cy="713233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1" name="Text 17"/>
          <p:cNvSpPr txBox="1"/>
          <p:nvPr/>
        </p:nvSpPr>
        <p:spPr>
          <a:xfrm>
            <a:off x="6245352" y="997203"/>
            <a:ext cx="2377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700">
                <a:solidFill>
                  <a:srgbClr val="D97706"/>
                </a:solidFill>
              </a:defRPr>
            </a:lvl1pPr>
          </a:lstStyle>
          <a:p>
            <a:pPr/>
            <a:r>
              <a:t>Step 3</a:t>
            </a:r>
          </a:p>
        </p:txBody>
      </p:sp>
      <p:sp>
        <p:nvSpPr>
          <p:cNvPr id="352" name="Text 18"/>
          <p:cNvSpPr txBox="1"/>
          <p:nvPr/>
        </p:nvSpPr>
        <p:spPr>
          <a:xfrm>
            <a:off x="6245352" y="1188719"/>
            <a:ext cx="2377441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9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Fold = 2^(−ΔΔCt)</a:t>
            </a:r>
          </a:p>
        </p:txBody>
      </p:sp>
      <p:sp>
        <p:nvSpPr>
          <p:cNvPr id="353" name="Shape 19"/>
          <p:cNvSpPr/>
          <p:nvPr/>
        </p:nvSpPr>
        <p:spPr>
          <a:xfrm>
            <a:off x="411480" y="1874520"/>
            <a:ext cx="5303521" cy="2423161"/>
          </a:xfrm>
          <a:prstGeom prst="roundRect">
            <a:avLst>
              <a:gd name="adj" fmla="val 3774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4" name="Text 20"/>
          <p:cNvSpPr txBox="1"/>
          <p:nvPr/>
        </p:nvSpPr>
        <p:spPr>
          <a:xfrm>
            <a:off x="566928" y="1938527"/>
            <a:ext cx="4983480" cy="16465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df = pd.read_excel("Sample_Data.ods", engine="odf")</a:t>
            </a:r>
          </a:p>
          <a:p>
            <a:pPr>
              <a:lnSpc>
                <a:spcPct val="120000"/>
              </a:lnSpc>
              <a:defRPr sz="800"/>
            </a:pP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Step 1: Calculate ΔCt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df["delta_ct"] = df["ct_target"] - df["ct_housekeeping"]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Step 2: ddCt relative to control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control_mean = df[df["group"]=="control"]["delta_ct"].mean()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df["delta_delta_ct"] = df["delta_ct"] - control_mean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Step 3: Fold change from ddCt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df["fold_ddct"] = 2 ** (-df["delta_delta_ct"])</a:t>
            </a:r>
          </a:p>
        </p:txBody>
      </p:sp>
      <p:sp>
        <p:nvSpPr>
          <p:cNvPr id="355" name="Text 21"/>
          <p:cNvSpPr txBox="1"/>
          <p:nvPr/>
        </p:nvSpPr>
        <p:spPr>
          <a:xfrm>
            <a:off x="5943600" y="1911906"/>
            <a:ext cx="2834640" cy="153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Code → Math</a:t>
            </a:r>
          </a:p>
        </p:txBody>
      </p:sp>
      <p:sp>
        <p:nvSpPr>
          <p:cNvPr id="356" name="Shape 22"/>
          <p:cNvSpPr/>
          <p:nvPr/>
        </p:nvSpPr>
        <p:spPr>
          <a:xfrm>
            <a:off x="5943600" y="2382622"/>
            <a:ext cx="2743200" cy="274321"/>
          </a:xfrm>
          <a:prstGeom prst="roundRect">
            <a:avLst>
              <a:gd name="adj" fmla="val 16667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7" name="Text 23"/>
          <p:cNvSpPr txBox="1"/>
          <p:nvPr/>
        </p:nvSpPr>
        <p:spPr>
          <a:xfrm>
            <a:off x="6035040" y="2456282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ΔCt = Target − HK</a:t>
            </a:r>
          </a:p>
        </p:txBody>
      </p:sp>
      <p:sp>
        <p:nvSpPr>
          <p:cNvPr id="358" name="Shape 24"/>
          <p:cNvSpPr/>
          <p:nvPr/>
        </p:nvSpPr>
        <p:spPr>
          <a:xfrm>
            <a:off x="5806440" y="2515718"/>
            <a:ext cx="182881" cy="12701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59" name="Shape 25"/>
          <p:cNvSpPr/>
          <p:nvPr/>
        </p:nvSpPr>
        <p:spPr>
          <a:xfrm>
            <a:off x="5943600" y="2838957"/>
            <a:ext cx="2743200" cy="274321"/>
          </a:xfrm>
          <a:prstGeom prst="roundRect">
            <a:avLst>
              <a:gd name="adj" fmla="val 16667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0" name="Text 26"/>
          <p:cNvSpPr txBox="1"/>
          <p:nvPr/>
        </p:nvSpPr>
        <p:spPr>
          <a:xfrm>
            <a:off x="6035040" y="2912617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ΔΔCt = ΔCt − ΔCt_ctrl</a:t>
            </a:r>
          </a:p>
        </p:txBody>
      </p:sp>
      <p:sp>
        <p:nvSpPr>
          <p:cNvPr id="361" name="Shape 27"/>
          <p:cNvSpPr/>
          <p:nvPr/>
        </p:nvSpPr>
        <p:spPr>
          <a:xfrm>
            <a:off x="5806440" y="2973832"/>
            <a:ext cx="182881" cy="12701"/>
          </a:xfrm>
          <a:prstGeom prst="rect">
            <a:avLst/>
          </a:prstGeom>
          <a:solidFill>
            <a:srgbClr val="0C33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2" name="Shape 28"/>
          <p:cNvSpPr/>
          <p:nvPr/>
        </p:nvSpPr>
        <p:spPr>
          <a:xfrm>
            <a:off x="5943600" y="3417061"/>
            <a:ext cx="2743200" cy="274321"/>
          </a:xfrm>
          <a:prstGeom prst="roundRect">
            <a:avLst>
              <a:gd name="adj" fmla="val 16667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Text 29"/>
          <p:cNvSpPr txBox="1"/>
          <p:nvPr/>
        </p:nvSpPr>
        <p:spPr>
          <a:xfrm>
            <a:off x="6035040" y="3490722"/>
            <a:ext cx="256032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Fold = 2^(−ΔΔCt)</a:t>
            </a:r>
          </a:p>
        </p:txBody>
      </p:sp>
      <p:sp>
        <p:nvSpPr>
          <p:cNvPr id="364" name="Shape 33"/>
          <p:cNvSpPr/>
          <p:nvPr/>
        </p:nvSpPr>
        <p:spPr>
          <a:xfrm>
            <a:off x="5943600" y="3794759"/>
            <a:ext cx="993617" cy="152989"/>
          </a:xfrm>
          <a:prstGeom prst="rect">
            <a:avLst/>
          </a:prstGeom>
          <a:solidFill>
            <a:srgbClr val="FFFFFF"/>
          </a:solidFill>
          <a:ln w="10160">
            <a:solidFill>
              <a:srgbClr val="DDD9D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65" name="Text 34"/>
          <p:cNvSpPr txBox="1"/>
          <p:nvPr/>
        </p:nvSpPr>
        <p:spPr>
          <a:xfrm>
            <a:off x="5968228" y="3825826"/>
            <a:ext cx="10037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30000"/>
              </a:lnSpc>
              <a:defRPr sz="700">
                <a:solidFill>
                  <a:srgbClr val="8A8279"/>
                </a:solidFill>
              </a:defRPr>
            </a:lvl1pPr>
          </a:lstStyle>
          <a:p>
            <a:pPr/>
            <a:r>
              <a:t>Livak &amp; Schmittgen (2001)</a:t>
            </a:r>
          </a:p>
        </p:txBody>
      </p:sp>
      <p:sp>
        <p:nvSpPr>
          <p:cNvPr id="366" name="Shape 27"/>
          <p:cNvSpPr/>
          <p:nvPr/>
        </p:nvSpPr>
        <p:spPr>
          <a:xfrm>
            <a:off x="5806440" y="3547871"/>
            <a:ext cx="182881" cy="12701"/>
          </a:xfrm>
          <a:prstGeom prst="rect">
            <a:avLst/>
          </a:prstGeom>
          <a:gradFill>
            <a:gsLst>
              <a:gs pos="0">
                <a:srgbClr val="80B860"/>
              </a:gs>
              <a:gs pos="50000">
                <a:srgbClr val="6FB242"/>
              </a:gs>
              <a:gs pos="100000">
                <a:srgbClr val="61A236"/>
              </a:gs>
            </a:gsLst>
            <a:lin ang="5400000"/>
          </a:gradFill>
          <a:ln w="12700">
            <a:miter lim="400000"/>
          </a:ln>
          <a:effectLst>
            <a:outerShdw sx="100000" sy="100000" kx="0" ky="0" algn="b" rotWithShape="0" blurRad="63500" dist="19050" dir="5400000">
              <a:srgbClr val="000000">
                <a:alpha val="63000"/>
              </a:srgbClr>
            </a:outerShdw>
          </a:effectLst>
        </p:spPr>
        <p:txBody>
          <a:bodyPr lIns="45719" rIns="45719"/>
          <a:lstStyle/>
          <a:p>
            <a:pPr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1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2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qPCR Pipeline: Summarizing Results</a:t>
            </a:r>
          </a:p>
        </p:txBody>
      </p:sp>
      <p:sp>
        <p:nvSpPr>
          <p:cNvPr id="373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4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375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11</a:t>
            </a:r>
          </a:p>
        </p:txBody>
      </p:sp>
      <p:sp>
        <p:nvSpPr>
          <p:cNvPr id="376" name="Shape 7"/>
          <p:cNvSpPr/>
          <p:nvPr/>
        </p:nvSpPr>
        <p:spPr>
          <a:xfrm>
            <a:off x="411480" y="960119"/>
            <a:ext cx="4754880" cy="2514601"/>
          </a:xfrm>
          <a:prstGeom prst="roundRect">
            <a:avLst>
              <a:gd name="adj" fmla="val 3636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7" name="Text 8"/>
          <p:cNvSpPr txBox="1"/>
          <p:nvPr/>
        </p:nvSpPr>
        <p:spPr>
          <a:xfrm>
            <a:off x="566927" y="1024127"/>
            <a:ext cx="4434842" cy="19764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Summary stats per group</a:t>
            </a: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summary = df.groupby("group").agg(</a:t>
            </a: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mean_fold = ("fold_change", "mean"),</a:t>
            </a: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std_fold  = ("fold_change", "std"),</a:t>
            </a: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n         = ("fold_change", "count")</a:t>
            </a: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).reset_index()</a:t>
            </a:r>
          </a:p>
          <a:p>
            <a:pPr>
              <a:lnSpc>
                <a:spcPct val="122000"/>
              </a:lnSpc>
              <a:defRPr sz="800"/>
            </a:pP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# Calculate SEM</a:t>
            </a: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summary["sem"] = (</a:t>
            </a: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summary["std_fold"] / np.sqrt(summary["n"])</a:t>
            </a: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)</a:t>
            </a:r>
          </a:p>
          <a:p>
            <a:pPr>
              <a:lnSpc>
                <a:spcPct val="122000"/>
              </a:lnSpc>
              <a:defRPr sz="800"/>
            </a:pPr>
          </a:p>
          <a:p>
            <a:pPr>
              <a:lnSpc>
                <a:spcPct val="122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print(summary)</a:t>
            </a:r>
          </a:p>
        </p:txBody>
      </p:sp>
      <p:sp>
        <p:nvSpPr>
          <p:cNvPr id="378" name="Shape 9"/>
          <p:cNvSpPr/>
          <p:nvPr/>
        </p:nvSpPr>
        <p:spPr>
          <a:xfrm>
            <a:off x="411480" y="3584447"/>
            <a:ext cx="4754880" cy="566929"/>
          </a:xfrm>
          <a:prstGeom prst="rect">
            <a:avLst/>
          </a:prstGeom>
          <a:solidFill>
            <a:srgbClr val="FDF4E8"/>
          </a:solidFill>
          <a:ln w="1270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Text 10"/>
          <p:cNvSpPr txBox="1"/>
          <p:nvPr/>
        </p:nvSpPr>
        <p:spPr>
          <a:xfrm>
            <a:off x="594359" y="3759961"/>
            <a:ext cx="2286001" cy="215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SEM = SD / √n</a:t>
            </a:r>
          </a:p>
        </p:txBody>
      </p:sp>
      <p:sp>
        <p:nvSpPr>
          <p:cNvPr id="380" name="Text 11"/>
          <p:cNvSpPr txBox="1"/>
          <p:nvPr/>
        </p:nvSpPr>
        <p:spPr>
          <a:xfrm>
            <a:off x="2926079" y="3723654"/>
            <a:ext cx="2103121" cy="28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Standard error of the mean</a:t>
            </a:r>
          </a:p>
          <a:p>
            <a:pPr>
              <a:lnSpc>
                <a:spcPct val="130000"/>
              </a:lnSpc>
              <a:defRPr sz="900">
                <a:solidFill>
                  <a:srgbClr val="8A8279"/>
                </a:solidFill>
              </a:defRPr>
            </a:pPr>
            <a:r>
              <a:t>— used for bar plot error bars</a:t>
            </a:r>
          </a:p>
        </p:txBody>
      </p:sp>
      <p:sp>
        <p:nvSpPr>
          <p:cNvPr id="381" name="Text 12"/>
          <p:cNvSpPr txBox="1"/>
          <p:nvPr/>
        </p:nvSpPr>
        <p:spPr>
          <a:xfrm>
            <a:off x="5486400" y="1011936"/>
            <a:ext cx="3200400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D41B2C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Output: summary</a:t>
            </a:r>
          </a:p>
        </p:txBody>
      </p:sp>
      <p:graphicFrame>
        <p:nvGraphicFramePr>
          <p:cNvPr id="382" name="Table 0"/>
          <p:cNvGraphicFramePr/>
          <p:nvPr/>
        </p:nvGraphicFramePr>
        <p:xfrm>
          <a:off x="5486400" y="1261872"/>
          <a:ext cx="2834640" cy="1042417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777240"/>
                <a:gridCol w="594360"/>
                <a:gridCol w="548640"/>
                <a:gridCol w="365760"/>
                <a:gridCol w="548640"/>
              </a:tblGrid>
              <a:tr h="2377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Group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Mean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Std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700">
                          <a:solidFill>
                            <a:srgbClr val="FFFFFF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SEM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solidFill>
                      <a:srgbClr val="D41B2C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Control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14.3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2.09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1.21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311.2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59.3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34.2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Cond 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932.6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369.1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700">
                          <a:solidFill>
                            <a:srgbClr val="1A1714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213.1</a:t>
                      </a:r>
                    </a:p>
                  </a:txBody>
                  <a:tcPr marL="45720" marR="45720" marT="45720" marB="45720" anchor="t" anchorCtr="0" horzOverflow="overflow">
                    <a:lnL w="6350">
                      <a:solidFill>
                        <a:srgbClr val="DDD9D4"/>
                      </a:solidFill>
                    </a:lnL>
                    <a:lnR w="6350">
                      <a:solidFill>
                        <a:srgbClr val="DDD9D4"/>
                      </a:solidFill>
                    </a:lnR>
                    <a:lnT w="6350">
                      <a:solidFill>
                        <a:srgbClr val="DDD9D4"/>
                      </a:solidFill>
                    </a:lnT>
                    <a:lnB w="6350">
                      <a:solidFill>
                        <a:srgbClr val="DDD9D4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3" name="Shape 13"/>
          <p:cNvSpPr/>
          <p:nvPr/>
        </p:nvSpPr>
        <p:spPr>
          <a:xfrm>
            <a:off x="5486400" y="2286000"/>
            <a:ext cx="3246121" cy="274321"/>
          </a:xfrm>
          <a:prstGeom prst="roundRect">
            <a:avLst>
              <a:gd name="adj" fmla="val 16667"/>
            </a:avLst>
          </a:prstGeom>
          <a:solidFill>
            <a:srgbClr val="FDF4E8"/>
          </a:solidFill>
          <a:ln w="10160">
            <a:solidFill>
              <a:srgbClr val="E8C87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4" name="Text 14"/>
          <p:cNvSpPr txBox="1"/>
          <p:nvPr/>
        </p:nvSpPr>
        <p:spPr>
          <a:xfrm>
            <a:off x="5577840" y="2359660"/>
            <a:ext cx="30632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1A1714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groupby("group").agg(mean, std, count)</a:t>
            </a:r>
          </a:p>
        </p:txBody>
      </p:sp>
      <p:sp>
        <p:nvSpPr>
          <p:cNvPr id="385" name="Text 15"/>
          <p:cNvSpPr txBox="1"/>
          <p:nvPr/>
        </p:nvSpPr>
        <p:spPr>
          <a:xfrm>
            <a:off x="5577840" y="2597403"/>
            <a:ext cx="310896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800">
                <a:solidFill>
                  <a:srgbClr val="8A8279"/>
                </a:solidFill>
              </a:defRPr>
            </a:lvl1pPr>
          </a:lstStyle>
          <a:p>
            <a:pPr/>
            <a:r>
              <a:t>→ replaces dozens of manual Excel calcs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0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Visualization &amp; Statistics</a:t>
            </a:r>
          </a:p>
        </p:txBody>
      </p:sp>
      <p:sp>
        <p:nvSpPr>
          <p:cNvPr id="392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394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12</a:t>
            </a:r>
          </a:p>
        </p:txBody>
      </p:sp>
      <p:sp>
        <p:nvSpPr>
          <p:cNvPr id="395" name="Shape 7"/>
          <p:cNvSpPr/>
          <p:nvPr/>
        </p:nvSpPr>
        <p:spPr>
          <a:xfrm>
            <a:off x="1604416" y="4375157"/>
            <a:ext cx="5757349" cy="371076"/>
          </a:xfrm>
          <a:prstGeom prst="roundRect">
            <a:avLst>
              <a:gd name="adj" fmla="val 24361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6" name="Text 8"/>
          <p:cNvSpPr txBox="1"/>
          <p:nvPr/>
        </p:nvSpPr>
        <p:spPr>
          <a:xfrm>
            <a:off x="1693325" y="4420741"/>
            <a:ext cx="5579531" cy="275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6999"/>
              </a:lnSpc>
              <a:defRPr sz="800">
                <a:solidFill>
                  <a:srgbClr val="BAC4E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t_stat, p_val = stats.ttest_ind( df[df[“group"]=="treatment_a"]["fold_change"], </a:t>
            </a:r>
          </a:p>
          <a:p>
            <a:pPr lvl="5">
              <a:lnSpc>
                <a:spcPct val="116999"/>
              </a:lnSpc>
              <a:defRPr sz="800">
                <a:solidFill>
                  <a:srgbClr val="BAC4E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df[df["group"]=="control"]["fold_change"])</a:t>
            </a:r>
          </a:p>
        </p:txBody>
      </p:sp>
      <p:pic>
        <p:nvPicPr>
          <p:cNvPr id="397" name="figure_fold_change.png" descr="figure_fold_chang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293" y="855104"/>
            <a:ext cx="7415229" cy="34332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2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Exporting Results</a:t>
            </a:r>
          </a:p>
        </p:txBody>
      </p:sp>
      <p:sp>
        <p:nvSpPr>
          <p:cNvPr id="404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406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13</a:t>
            </a:r>
          </a:p>
        </p:txBody>
      </p:sp>
      <p:sp>
        <p:nvSpPr>
          <p:cNvPr id="407" name="Shape 7"/>
          <p:cNvSpPr/>
          <p:nvPr/>
        </p:nvSpPr>
        <p:spPr>
          <a:xfrm>
            <a:off x="457200" y="1024127"/>
            <a:ext cx="2606040" cy="10241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08" name="Shape 8"/>
          <p:cNvSpPr/>
          <p:nvPr/>
        </p:nvSpPr>
        <p:spPr>
          <a:xfrm>
            <a:off x="457200" y="1024127"/>
            <a:ext cx="2606040" cy="41149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09" name="Image 0" descr="Image 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48640" y="1170432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410" name="Text 9"/>
          <p:cNvSpPr txBox="1"/>
          <p:nvPr/>
        </p:nvSpPr>
        <p:spPr>
          <a:xfrm>
            <a:off x="841247" y="1118869"/>
            <a:ext cx="21305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Processed Data</a:t>
            </a:r>
          </a:p>
        </p:txBody>
      </p:sp>
      <p:sp>
        <p:nvSpPr>
          <p:cNvPr id="411" name="Text 10"/>
          <p:cNvSpPr txBox="1"/>
          <p:nvPr/>
        </p:nvSpPr>
        <p:spPr>
          <a:xfrm>
            <a:off x="841247" y="1303527"/>
            <a:ext cx="2130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D41B2C"/>
                </a:solidFill>
              </a:defRPr>
            </a:lvl1pPr>
          </a:lstStyle>
          <a:p>
            <a:pPr/>
            <a:r>
              <a:t>CSV</a:t>
            </a:r>
          </a:p>
        </p:txBody>
      </p:sp>
      <p:sp>
        <p:nvSpPr>
          <p:cNvPr id="412" name="Shape 11"/>
          <p:cNvSpPr/>
          <p:nvPr/>
        </p:nvSpPr>
        <p:spPr>
          <a:xfrm>
            <a:off x="530351" y="1527047"/>
            <a:ext cx="2459737" cy="420625"/>
          </a:xfrm>
          <a:prstGeom prst="roundRect">
            <a:avLst>
              <a:gd name="adj" fmla="val 8696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3" name="Text 12"/>
          <p:cNvSpPr txBox="1"/>
          <p:nvPr/>
        </p:nvSpPr>
        <p:spPr>
          <a:xfrm>
            <a:off x="621791" y="1673860"/>
            <a:ext cx="22768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df.to_csv("results.csv", index=False)</a:t>
            </a:r>
          </a:p>
        </p:txBody>
      </p:sp>
      <p:sp>
        <p:nvSpPr>
          <p:cNvPr id="414" name="Shape 13"/>
          <p:cNvSpPr/>
          <p:nvPr/>
        </p:nvSpPr>
        <p:spPr>
          <a:xfrm>
            <a:off x="3291840" y="1024127"/>
            <a:ext cx="2606041" cy="10241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5" name="Shape 14"/>
          <p:cNvSpPr/>
          <p:nvPr/>
        </p:nvSpPr>
        <p:spPr>
          <a:xfrm>
            <a:off x="3291840" y="1024127"/>
            <a:ext cx="2606041" cy="41149"/>
          </a:xfrm>
          <a:prstGeom prst="rect">
            <a:avLst/>
          </a:prstGeom>
          <a:solidFill>
            <a:srgbClr val="0C33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16" name="Image 1" descr="Image 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383279" y="1170432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417" name="Text 15"/>
          <p:cNvSpPr txBox="1"/>
          <p:nvPr/>
        </p:nvSpPr>
        <p:spPr>
          <a:xfrm>
            <a:off x="3675888" y="1118869"/>
            <a:ext cx="21305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Summary Stats</a:t>
            </a:r>
          </a:p>
        </p:txBody>
      </p:sp>
      <p:sp>
        <p:nvSpPr>
          <p:cNvPr id="418" name="Text 16"/>
          <p:cNvSpPr txBox="1"/>
          <p:nvPr/>
        </p:nvSpPr>
        <p:spPr>
          <a:xfrm>
            <a:off x="3675888" y="1303527"/>
            <a:ext cx="21305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0C3354"/>
                </a:solidFill>
              </a:defRPr>
            </a:lvl1pPr>
          </a:lstStyle>
          <a:p>
            <a:pPr/>
            <a:r>
              <a:t>Excel</a:t>
            </a:r>
          </a:p>
        </p:txBody>
      </p:sp>
      <p:sp>
        <p:nvSpPr>
          <p:cNvPr id="419" name="Shape 17"/>
          <p:cNvSpPr/>
          <p:nvPr/>
        </p:nvSpPr>
        <p:spPr>
          <a:xfrm>
            <a:off x="3364991" y="1527047"/>
            <a:ext cx="2459737" cy="420625"/>
          </a:xfrm>
          <a:prstGeom prst="roundRect">
            <a:avLst>
              <a:gd name="adj" fmla="val 8696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0" name="Text 18"/>
          <p:cNvSpPr txBox="1"/>
          <p:nvPr/>
        </p:nvSpPr>
        <p:spPr>
          <a:xfrm>
            <a:off x="3456432" y="1673860"/>
            <a:ext cx="22768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summary.to_excel("summary.xlsx")</a:t>
            </a:r>
          </a:p>
        </p:txBody>
      </p:sp>
      <p:sp>
        <p:nvSpPr>
          <p:cNvPr id="421" name="Shape 19"/>
          <p:cNvSpPr/>
          <p:nvPr/>
        </p:nvSpPr>
        <p:spPr>
          <a:xfrm>
            <a:off x="6126479" y="1024127"/>
            <a:ext cx="2606041" cy="10241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2" name="Shape 20"/>
          <p:cNvSpPr/>
          <p:nvPr/>
        </p:nvSpPr>
        <p:spPr>
          <a:xfrm>
            <a:off x="6126479" y="1024127"/>
            <a:ext cx="2606041" cy="41149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23" name="Image 2" descr="Image 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217920" y="1170432"/>
            <a:ext cx="219457" cy="219457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Text 21"/>
          <p:cNvSpPr txBox="1"/>
          <p:nvPr/>
        </p:nvSpPr>
        <p:spPr>
          <a:xfrm>
            <a:off x="6510528" y="1118869"/>
            <a:ext cx="21305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Figures (raster)</a:t>
            </a:r>
          </a:p>
        </p:txBody>
      </p:sp>
      <p:sp>
        <p:nvSpPr>
          <p:cNvPr id="425" name="Text 22"/>
          <p:cNvSpPr txBox="1"/>
          <p:nvPr/>
        </p:nvSpPr>
        <p:spPr>
          <a:xfrm>
            <a:off x="6510528" y="1303527"/>
            <a:ext cx="2130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D97706"/>
                </a:solidFill>
              </a:defRPr>
            </a:lvl1pPr>
          </a:lstStyle>
          <a:p>
            <a:pPr/>
            <a:r>
              <a:t>PNG 300 DPI</a:t>
            </a:r>
          </a:p>
        </p:txBody>
      </p:sp>
      <p:sp>
        <p:nvSpPr>
          <p:cNvPr id="426" name="Shape 23"/>
          <p:cNvSpPr/>
          <p:nvPr/>
        </p:nvSpPr>
        <p:spPr>
          <a:xfrm>
            <a:off x="6199632" y="1527047"/>
            <a:ext cx="2459736" cy="420625"/>
          </a:xfrm>
          <a:prstGeom prst="roundRect">
            <a:avLst>
              <a:gd name="adj" fmla="val 8696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7" name="Text 24"/>
          <p:cNvSpPr txBox="1"/>
          <p:nvPr/>
        </p:nvSpPr>
        <p:spPr>
          <a:xfrm>
            <a:off x="6291071" y="1597660"/>
            <a:ext cx="2276857" cy="279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plt.savefig("fig.png", dpi=300,</a:t>
            </a:r>
          </a:p>
          <a:p>
            <a: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    bbox_inches="tight")</a:t>
            </a:r>
          </a:p>
        </p:txBody>
      </p:sp>
      <p:sp>
        <p:nvSpPr>
          <p:cNvPr id="428" name="Shape 25"/>
          <p:cNvSpPr/>
          <p:nvPr/>
        </p:nvSpPr>
        <p:spPr>
          <a:xfrm>
            <a:off x="457200" y="2249423"/>
            <a:ext cx="2606040" cy="10241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29" name="Shape 26"/>
          <p:cNvSpPr/>
          <p:nvPr/>
        </p:nvSpPr>
        <p:spPr>
          <a:xfrm>
            <a:off x="457200" y="2249423"/>
            <a:ext cx="2606040" cy="41149"/>
          </a:xfrm>
          <a:prstGeom prst="rect">
            <a:avLst/>
          </a:prstGeom>
          <a:solidFill>
            <a:srgbClr val="EF444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30" name="Image 3" descr="Image 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48640" y="2395727"/>
            <a:ext cx="219457" cy="219458"/>
          </a:xfrm>
          <a:prstGeom prst="rect">
            <a:avLst/>
          </a:prstGeom>
          <a:ln w="12700">
            <a:miter lim="400000"/>
          </a:ln>
        </p:spPr>
      </p:pic>
      <p:sp>
        <p:nvSpPr>
          <p:cNvPr id="431" name="Text 27"/>
          <p:cNvSpPr txBox="1"/>
          <p:nvPr/>
        </p:nvSpPr>
        <p:spPr>
          <a:xfrm>
            <a:off x="841247" y="2344166"/>
            <a:ext cx="21305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Figures (vector)</a:t>
            </a:r>
          </a:p>
        </p:txBody>
      </p:sp>
      <p:sp>
        <p:nvSpPr>
          <p:cNvPr id="432" name="Text 28"/>
          <p:cNvSpPr txBox="1"/>
          <p:nvPr/>
        </p:nvSpPr>
        <p:spPr>
          <a:xfrm>
            <a:off x="841247" y="2528823"/>
            <a:ext cx="2130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EF4444"/>
                </a:solidFill>
              </a:defRPr>
            </a:lvl1pPr>
          </a:lstStyle>
          <a:p>
            <a:pPr/>
            <a:r>
              <a:t>SVG</a:t>
            </a:r>
          </a:p>
        </p:txBody>
      </p:sp>
      <p:sp>
        <p:nvSpPr>
          <p:cNvPr id="433" name="Shape 29"/>
          <p:cNvSpPr/>
          <p:nvPr/>
        </p:nvSpPr>
        <p:spPr>
          <a:xfrm>
            <a:off x="530351" y="2752344"/>
            <a:ext cx="2459737" cy="420625"/>
          </a:xfrm>
          <a:prstGeom prst="roundRect">
            <a:avLst>
              <a:gd name="adj" fmla="val 8696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4" name="Text 30"/>
          <p:cNvSpPr txBox="1"/>
          <p:nvPr/>
        </p:nvSpPr>
        <p:spPr>
          <a:xfrm>
            <a:off x="621791" y="2899155"/>
            <a:ext cx="22768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plt.savefig("fig.svg")</a:t>
            </a:r>
          </a:p>
        </p:txBody>
      </p:sp>
      <p:sp>
        <p:nvSpPr>
          <p:cNvPr id="435" name="Shape 31"/>
          <p:cNvSpPr/>
          <p:nvPr/>
        </p:nvSpPr>
        <p:spPr>
          <a:xfrm>
            <a:off x="3291840" y="2249423"/>
            <a:ext cx="2606041" cy="10241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36" name="Shape 32"/>
          <p:cNvSpPr/>
          <p:nvPr/>
        </p:nvSpPr>
        <p:spPr>
          <a:xfrm>
            <a:off x="3291840" y="2249423"/>
            <a:ext cx="2606041" cy="41149"/>
          </a:xfrm>
          <a:prstGeom prst="rect">
            <a:avLst/>
          </a:prstGeom>
          <a:solidFill>
            <a:srgbClr val="991B1B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37" name="Image 4" descr="Image 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383279" y="2395727"/>
            <a:ext cx="219457" cy="219458"/>
          </a:xfrm>
          <a:prstGeom prst="rect">
            <a:avLst/>
          </a:prstGeom>
          <a:ln w="12700">
            <a:miter lim="400000"/>
          </a:ln>
        </p:spPr>
      </p:pic>
      <p:sp>
        <p:nvSpPr>
          <p:cNvPr id="438" name="Text 33"/>
          <p:cNvSpPr txBox="1"/>
          <p:nvPr/>
        </p:nvSpPr>
        <p:spPr>
          <a:xfrm>
            <a:off x="3675888" y="2344166"/>
            <a:ext cx="2130552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Interactive Plots</a:t>
            </a:r>
          </a:p>
        </p:txBody>
      </p:sp>
      <p:sp>
        <p:nvSpPr>
          <p:cNvPr id="439" name="Text 34"/>
          <p:cNvSpPr txBox="1"/>
          <p:nvPr/>
        </p:nvSpPr>
        <p:spPr>
          <a:xfrm>
            <a:off x="3675888" y="2528823"/>
            <a:ext cx="213055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991B1B"/>
                </a:solidFill>
              </a:defRPr>
            </a:lvl1pPr>
          </a:lstStyle>
          <a:p>
            <a:pPr/>
            <a:r>
              <a:t>HTML</a:t>
            </a:r>
          </a:p>
        </p:txBody>
      </p:sp>
      <p:sp>
        <p:nvSpPr>
          <p:cNvPr id="440" name="Shape 35"/>
          <p:cNvSpPr/>
          <p:nvPr/>
        </p:nvSpPr>
        <p:spPr>
          <a:xfrm>
            <a:off x="3364991" y="2752344"/>
            <a:ext cx="2459737" cy="420625"/>
          </a:xfrm>
          <a:prstGeom prst="roundRect">
            <a:avLst>
              <a:gd name="adj" fmla="val 8696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1" name="Text 36"/>
          <p:cNvSpPr txBox="1"/>
          <p:nvPr/>
        </p:nvSpPr>
        <p:spPr>
          <a:xfrm>
            <a:off x="3456432" y="2899155"/>
            <a:ext cx="22768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fig.write_html("plot.html")</a:t>
            </a:r>
          </a:p>
        </p:txBody>
      </p:sp>
      <p:sp>
        <p:nvSpPr>
          <p:cNvPr id="442" name="Shape 37"/>
          <p:cNvSpPr/>
          <p:nvPr/>
        </p:nvSpPr>
        <p:spPr>
          <a:xfrm>
            <a:off x="6126479" y="2249423"/>
            <a:ext cx="2606041" cy="1024129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76200" dist="25400" dir="8100000">
              <a:srgbClr val="000000">
                <a:alpha val="8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43" name="Shape 38"/>
          <p:cNvSpPr/>
          <p:nvPr/>
        </p:nvSpPr>
        <p:spPr>
          <a:xfrm>
            <a:off x="6126479" y="2249423"/>
            <a:ext cx="2606041" cy="41149"/>
          </a:xfrm>
          <a:prstGeom prst="rect">
            <a:avLst/>
          </a:prstGeom>
          <a:solidFill>
            <a:srgbClr val="1E1E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44" name="Image 5" descr="Image 5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6217920" y="2395727"/>
            <a:ext cx="219457" cy="219458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Text 39"/>
          <p:cNvSpPr txBox="1"/>
          <p:nvPr/>
        </p:nvSpPr>
        <p:spPr>
          <a:xfrm>
            <a:off x="6510528" y="2344166"/>
            <a:ext cx="2130553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000">
                <a:solidFill>
                  <a:srgbClr val="1A1714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Full Report</a:t>
            </a:r>
          </a:p>
        </p:txBody>
      </p:sp>
      <p:sp>
        <p:nvSpPr>
          <p:cNvPr id="446" name="Text 40"/>
          <p:cNvSpPr txBox="1"/>
          <p:nvPr/>
        </p:nvSpPr>
        <p:spPr>
          <a:xfrm>
            <a:off x="6510528" y="2528823"/>
            <a:ext cx="2130553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800">
                <a:solidFill>
                  <a:srgbClr val="1E1E24"/>
                </a:solidFill>
              </a:defRPr>
            </a:lvl1pPr>
          </a:lstStyle>
          <a:p>
            <a:pPr/>
            <a:r>
              <a:t>PDF</a:t>
            </a:r>
          </a:p>
        </p:txBody>
      </p:sp>
      <p:sp>
        <p:nvSpPr>
          <p:cNvPr id="447" name="Shape 41"/>
          <p:cNvSpPr/>
          <p:nvPr/>
        </p:nvSpPr>
        <p:spPr>
          <a:xfrm>
            <a:off x="6199632" y="2752344"/>
            <a:ext cx="2459736" cy="420625"/>
          </a:xfrm>
          <a:prstGeom prst="roundRect">
            <a:avLst>
              <a:gd name="adj" fmla="val 8696"/>
            </a:avLst>
          </a:prstGeom>
          <a:solidFill>
            <a:srgbClr val="1A1B2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48" name="Text 42"/>
          <p:cNvSpPr txBox="1"/>
          <p:nvPr/>
        </p:nvSpPr>
        <p:spPr>
          <a:xfrm>
            <a:off x="6291071" y="2899155"/>
            <a:ext cx="227685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ct val="120000"/>
              </a:lnSpc>
              <a:defRPr sz="800">
                <a:solidFill>
                  <a:srgbClr val="C8D3F5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Jupyter → File → Export as PDF</a:t>
            </a:r>
          </a:p>
        </p:txBody>
      </p:sp>
      <p:sp>
        <p:nvSpPr>
          <p:cNvPr id="449" name="Shape 43"/>
          <p:cNvSpPr/>
          <p:nvPr/>
        </p:nvSpPr>
        <p:spPr>
          <a:xfrm>
            <a:off x="411480" y="3401567"/>
            <a:ext cx="8321041" cy="438913"/>
          </a:xfrm>
          <a:prstGeom prst="roundRect">
            <a:avLst>
              <a:gd name="adj" fmla="val 12500"/>
            </a:avLst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0" name="Text 44"/>
          <p:cNvSpPr txBox="1"/>
          <p:nvPr/>
        </p:nvSpPr>
        <p:spPr>
          <a:xfrm>
            <a:off x="640079" y="3506768"/>
            <a:ext cx="78638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Pro tip: Save as SVG for journals — resolution-independent and editable in Illustrator.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Shape 0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3" name="Shape 1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4" name="Text 2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Hands-On Exercise</a:t>
            </a:r>
          </a:p>
        </p:txBody>
      </p:sp>
      <p:sp>
        <p:nvSpPr>
          <p:cNvPr id="455" name="Shape 3"/>
          <p:cNvSpPr/>
          <p:nvPr/>
        </p:nvSpPr>
        <p:spPr>
          <a:xfrm>
            <a:off x="0" y="4828032"/>
            <a:ext cx="9144000" cy="315469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56" name="Text 4"/>
          <p:cNvSpPr txBox="1"/>
          <p:nvPr/>
        </p:nvSpPr>
        <p:spPr>
          <a:xfrm>
            <a:off x="502919" y="4890420"/>
            <a:ext cx="539496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457" name="Text 6"/>
          <p:cNvSpPr txBox="1"/>
          <p:nvPr/>
        </p:nvSpPr>
        <p:spPr>
          <a:xfrm>
            <a:off x="8549639" y="4890420"/>
            <a:ext cx="182881" cy="1861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14</a:t>
            </a:r>
          </a:p>
        </p:txBody>
      </p:sp>
      <p:sp>
        <p:nvSpPr>
          <p:cNvPr id="458" name="Open the notebook in Google Colab, upload data files from OneDrive, and start!"/>
          <p:cNvSpPr txBox="1"/>
          <p:nvPr/>
        </p:nvSpPr>
        <p:spPr>
          <a:xfrm>
            <a:off x="624528" y="2017693"/>
            <a:ext cx="7463990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 marR="457200" algn="ctr">
              <a:defRPr i="1">
                <a:solidFill>
                  <a:srgbClr val="00B442"/>
                </a:solidFill>
              </a:defRPr>
            </a:lvl1pPr>
          </a:lstStyle>
          <a:p>
            <a:pPr/>
            <a:r>
              <a:t>Open the notebook in Google Colab, upload data files from OneDrive, and start!</a:t>
            </a:r>
          </a:p>
        </p:txBody>
      </p:sp>
      <p:sp>
        <p:nvSpPr>
          <p:cNvPr id="459" name="Notebook: github.com/abdullah-al-bashit/TSS-2026/ &gt; Python for Data Analysis and Automation &gt; qPCR_pipeline.ipynb…"/>
          <p:cNvSpPr txBox="1"/>
          <p:nvPr/>
        </p:nvSpPr>
        <p:spPr>
          <a:xfrm>
            <a:off x="186780" y="3531799"/>
            <a:ext cx="8770440" cy="5375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 marR="457200">
              <a:defRPr sz="1300">
                <a:solidFill>
                  <a:srgbClr val="DF3239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solidFill>
                  <a:srgbClr val="18181D"/>
                </a:solidFill>
                <a:latin typeface="+mn-lt"/>
                <a:ea typeface="+mn-ea"/>
                <a:cs typeface="+mn-cs"/>
                <a:sym typeface="Calibri"/>
              </a:rPr>
              <a:t>Notebook: </a:t>
            </a:r>
            <a:r>
              <a:t>github.com/abdullah-al-bashit/TSS-2026/ &gt; Python for Data Analysis and Automation &gt; qPCR_pipeline.ipynb</a:t>
            </a:r>
          </a:p>
          <a:p>
            <a:pPr marR="457200">
              <a:defRPr sz="1300">
                <a:solidFill>
                  <a:srgbClr val="DF3239"/>
                </a:solidFill>
                <a:latin typeface="+mj-lt"/>
                <a:ea typeface="+mj-ea"/>
                <a:cs typeface="+mj-cs"/>
                <a:sym typeface="Helvetica"/>
              </a:defRPr>
            </a:pPr>
            <a:r>
              <a:rPr b="1">
                <a:solidFill>
                  <a:srgbClr val="18181D"/>
                </a:solidFill>
              </a:rPr>
              <a:t>Data files: </a:t>
            </a:r>
            <a:r>
              <a:t>Sample_Data.ods shared on the same github folder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8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HeaderBar"/>
          <p:cNvSpPr/>
          <p:nvPr/>
        </p:nvSpPr>
        <p:spPr>
          <a:xfrm>
            <a:off x="0" y="-1"/>
            <a:ext cx="9144000" cy="804674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2" name="RedLine"/>
          <p:cNvSpPr/>
          <p:nvPr/>
        </p:nvSpPr>
        <p:spPr>
          <a:xfrm>
            <a:off x="0" y="804672"/>
            <a:ext cx="9144000" cy="32005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3" name="Title"/>
          <p:cNvSpPr txBox="1"/>
          <p:nvPr/>
        </p:nvSpPr>
        <p:spPr>
          <a:xfrm>
            <a:off x="502920" y="237235"/>
            <a:ext cx="813816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Acknowledgements</a:t>
            </a:r>
          </a:p>
        </p:txBody>
      </p:sp>
      <p:sp>
        <p:nvSpPr>
          <p:cNvPr id="464" name="FooterBar"/>
          <p:cNvSpPr/>
          <p:nvPr/>
        </p:nvSpPr>
        <p:spPr>
          <a:xfrm>
            <a:off x="0" y="4828032"/>
            <a:ext cx="9144000" cy="315470"/>
          </a:xfrm>
          <a:prstGeom prst="rect">
            <a:avLst/>
          </a:prstGeom>
          <a:solidFill>
            <a:srgbClr val="131316"/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65" name="FooterText"/>
          <p:cNvSpPr txBox="1"/>
          <p:nvPr/>
        </p:nvSpPr>
        <p:spPr>
          <a:xfrm>
            <a:off x="502919" y="4890420"/>
            <a:ext cx="5394962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Abdullah Al Bashit  ·  March 27, 2026</a:t>
            </a:r>
          </a:p>
        </p:txBody>
      </p:sp>
      <p:sp>
        <p:nvSpPr>
          <p:cNvPr id="466" name="PageNum"/>
          <p:cNvSpPr txBox="1"/>
          <p:nvPr/>
        </p:nvSpPr>
        <p:spPr>
          <a:xfrm>
            <a:off x="8549639" y="4890420"/>
            <a:ext cx="182882" cy="186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sz="700">
                <a:solidFill>
                  <a:srgbClr val="C5C0BA"/>
                </a:solidFill>
              </a:defRPr>
            </a:lvl1pPr>
          </a:lstStyle>
          <a:p>
            <a:pPr/>
            <a:r>
              <a:t>15</a:t>
            </a:r>
          </a:p>
        </p:txBody>
      </p:sp>
      <p:grpSp>
        <p:nvGrpSpPr>
          <p:cNvPr id="469" name="Avatar1"/>
          <p:cNvGrpSpPr/>
          <p:nvPr/>
        </p:nvGrpSpPr>
        <p:grpSpPr>
          <a:xfrm>
            <a:off x="685800" y="1142999"/>
            <a:ext cx="762000" cy="762001"/>
            <a:chOff x="0" y="0"/>
            <a:chExt cx="762000" cy="762000"/>
          </a:xfrm>
        </p:grpSpPr>
        <p:sp>
          <p:nvSpPr>
            <p:cNvPr id="467" name="Circle"/>
            <p:cNvSpPr/>
            <p:nvPr/>
          </p:nvSpPr>
          <p:spPr>
            <a:xfrm>
              <a:off x="0" y="-1"/>
              <a:ext cx="762000" cy="762001"/>
            </a:xfrm>
            <a:prstGeom prst="ellipse">
              <a:avLst/>
            </a:prstGeom>
            <a:solidFill>
              <a:srgbClr val="1B4F7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468" name="LM"/>
            <p:cNvSpPr txBox="1"/>
            <p:nvPr/>
          </p:nvSpPr>
          <p:spPr>
            <a:xfrm>
              <a:off x="111592" y="203199"/>
              <a:ext cx="538816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LM</a:t>
              </a:r>
            </a:p>
          </p:txBody>
        </p:sp>
      </p:grpSp>
      <p:sp>
        <p:nvSpPr>
          <p:cNvPr id="470" name="Name1"/>
          <p:cNvSpPr txBox="1"/>
          <p:nvPr/>
        </p:nvSpPr>
        <p:spPr>
          <a:xfrm>
            <a:off x="1600200" y="1282699"/>
            <a:ext cx="54864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600">
                <a:solidFill>
                  <a:srgbClr val="131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Lee Makowski</a:t>
            </a:r>
          </a:p>
        </p:txBody>
      </p:sp>
      <p:sp>
        <p:nvSpPr>
          <p:cNvPr id="471" name="Title1"/>
          <p:cNvSpPr txBox="1"/>
          <p:nvPr/>
        </p:nvSpPr>
        <p:spPr>
          <a:xfrm>
            <a:off x="1600200" y="1524000"/>
            <a:ext cx="54864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5D6D7E"/>
                </a:solidFill>
              </a:defRPr>
            </a:lvl1pPr>
          </a:lstStyle>
          <a:p>
            <a:pPr/>
            <a:r>
              <a:t>Professor, Department of Bioengineering, Northeastern University</a:t>
            </a:r>
          </a:p>
        </p:txBody>
      </p:sp>
      <p:grpSp>
        <p:nvGrpSpPr>
          <p:cNvPr id="474" name="Avatar2"/>
          <p:cNvGrpSpPr/>
          <p:nvPr/>
        </p:nvGrpSpPr>
        <p:grpSpPr>
          <a:xfrm>
            <a:off x="685800" y="2133600"/>
            <a:ext cx="762000" cy="762000"/>
            <a:chOff x="0" y="0"/>
            <a:chExt cx="762000" cy="762000"/>
          </a:xfrm>
        </p:grpSpPr>
        <p:sp>
          <p:nvSpPr>
            <p:cNvPr id="472" name="Circle"/>
            <p:cNvSpPr/>
            <p:nvPr/>
          </p:nvSpPr>
          <p:spPr>
            <a:xfrm>
              <a:off x="0" y="0"/>
              <a:ext cx="762000" cy="762000"/>
            </a:xfrm>
            <a:prstGeom prst="ellipse">
              <a:avLst/>
            </a:prstGeom>
            <a:solidFill>
              <a:srgbClr val="D41B2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473" name="CV"/>
            <p:cNvSpPr txBox="1"/>
            <p:nvPr/>
          </p:nvSpPr>
          <p:spPr>
            <a:xfrm>
              <a:off x="111592" y="203199"/>
              <a:ext cx="538816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CV</a:t>
              </a:r>
            </a:p>
          </p:txBody>
        </p:sp>
      </p:grpSp>
      <p:sp>
        <p:nvSpPr>
          <p:cNvPr id="475" name="Name2"/>
          <p:cNvSpPr txBox="1"/>
          <p:nvPr/>
        </p:nvSpPr>
        <p:spPr>
          <a:xfrm>
            <a:off x="1600200" y="2273299"/>
            <a:ext cx="54864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600">
                <a:solidFill>
                  <a:srgbClr val="131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Christina Velez</a:t>
            </a:r>
          </a:p>
        </p:txBody>
      </p:sp>
      <p:sp>
        <p:nvSpPr>
          <p:cNvPr id="476" name="Title2"/>
          <p:cNvSpPr txBox="1"/>
          <p:nvPr/>
        </p:nvSpPr>
        <p:spPr>
          <a:xfrm>
            <a:off x="1600200" y="2514600"/>
            <a:ext cx="54864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5D6D7E"/>
                </a:solidFill>
              </a:defRPr>
            </a:lvl1pPr>
          </a:lstStyle>
          <a:p>
            <a:pPr/>
            <a:r>
              <a:t>PhD Candidate, Department of Bioengineering, Northeastern University</a:t>
            </a:r>
          </a:p>
        </p:txBody>
      </p:sp>
      <p:grpSp>
        <p:nvGrpSpPr>
          <p:cNvPr id="479" name="Avatar3"/>
          <p:cNvGrpSpPr/>
          <p:nvPr/>
        </p:nvGrpSpPr>
        <p:grpSpPr>
          <a:xfrm>
            <a:off x="685800" y="3124200"/>
            <a:ext cx="762000" cy="762000"/>
            <a:chOff x="0" y="0"/>
            <a:chExt cx="762000" cy="762000"/>
          </a:xfrm>
        </p:grpSpPr>
        <p:sp>
          <p:nvSpPr>
            <p:cNvPr id="477" name="Circle"/>
            <p:cNvSpPr/>
            <p:nvPr/>
          </p:nvSpPr>
          <p:spPr>
            <a:xfrm>
              <a:off x="0" y="0"/>
              <a:ext cx="762000" cy="762000"/>
            </a:xfrm>
            <a:prstGeom prst="ellipse">
              <a:avLst/>
            </a:prstGeom>
            <a:solidFill>
              <a:srgbClr val="2E86C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/>
            </a:p>
          </p:txBody>
        </p:sp>
        <p:sp>
          <p:nvSpPr>
            <p:cNvPr id="478" name="BA"/>
            <p:cNvSpPr txBox="1"/>
            <p:nvPr/>
          </p:nvSpPr>
          <p:spPr>
            <a:xfrm>
              <a:off x="111592" y="203199"/>
              <a:ext cx="538816" cy="3556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2400">
                  <a:solidFill>
                    <a:srgbClr val="FFFFFF"/>
                  </a:solidFill>
                  <a:latin typeface="Trebuchet MS"/>
                  <a:ea typeface="Trebuchet MS"/>
                  <a:cs typeface="Trebuchet MS"/>
                  <a:sym typeface="Trebuchet MS"/>
                </a:defRPr>
              </a:lvl1pPr>
            </a:lstStyle>
            <a:p>
              <a:pPr/>
              <a:r>
                <a:t>BA</a:t>
              </a:r>
            </a:p>
          </p:txBody>
        </p:sp>
      </p:grpSp>
      <p:sp>
        <p:nvSpPr>
          <p:cNvPr id="480" name="Name3"/>
          <p:cNvSpPr txBox="1"/>
          <p:nvPr/>
        </p:nvSpPr>
        <p:spPr>
          <a:xfrm>
            <a:off x="1600200" y="3263899"/>
            <a:ext cx="54864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b="1" sz="1600">
                <a:solidFill>
                  <a:srgbClr val="131316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Bryce Axe</a:t>
            </a:r>
          </a:p>
        </p:txBody>
      </p:sp>
      <p:sp>
        <p:nvSpPr>
          <p:cNvPr id="481" name="Title3"/>
          <p:cNvSpPr txBox="1"/>
          <p:nvPr/>
        </p:nvSpPr>
        <p:spPr>
          <a:xfrm>
            <a:off x="1600200" y="3505200"/>
            <a:ext cx="54864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5D6D7E"/>
                </a:solidFill>
              </a:defRPr>
            </a:lvl1pPr>
          </a:lstStyle>
          <a:p>
            <a:pPr/>
            <a:r>
              <a:t>MS, Department of Bioengineering, Northeastern University</a:t>
            </a:r>
          </a:p>
        </p:txBody>
      </p:sp>
      <p:sp>
        <p:nvSpPr>
          <p:cNvPr id="482" name="Divider"/>
          <p:cNvSpPr/>
          <p:nvPr/>
        </p:nvSpPr>
        <p:spPr>
          <a:xfrm>
            <a:off x="685800" y="4114800"/>
            <a:ext cx="7772400" cy="0"/>
          </a:xfrm>
          <a:prstGeom prst="line">
            <a:avLst/>
          </a:prstGeom>
          <a:ln>
            <a:solidFill>
              <a:srgbClr val="C5C0BA"/>
            </a:solidFill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3" name="TSSText"/>
          <p:cNvSpPr txBox="1"/>
          <p:nvPr/>
        </p:nvSpPr>
        <p:spPr>
          <a:xfrm>
            <a:off x="685800" y="4236720"/>
            <a:ext cx="7772400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i="1" sz="1200">
                <a:solidFill>
                  <a:srgbClr val="5D6D7E"/>
                </a:solidFill>
              </a:defRPr>
            </a:lvl1pPr>
          </a:lstStyle>
          <a:p>
            <a:pPr/>
            <a:r>
              <a:t>… and all the members of the TSS Organizing Committee</a:t>
            </a:r>
          </a:p>
        </p:txBody>
      </p:sp>
      <p:sp>
        <p:nvSpPr>
          <p:cNvPr id="484" name="Gear1"/>
          <p:cNvSpPr/>
          <p:nvPr/>
        </p:nvSpPr>
        <p:spPr>
          <a:xfrm>
            <a:off x="7566628" y="1376926"/>
            <a:ext cx="411543" cy="4465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16757" y="5344"/>
                </a:moveTo>
                <a:lnTo>
                  <a:pt x="20297" y="4360"/>
                </a:lnTo>
                <a:lnTo>
                  <a:pt x="21600" y="6440"/>
                </a:lnTo>
                <a:lnTo>
                  <a:pt x="18906" y="8774"/>
                </a:lnTo>
                <a:cubicBezTo>
                  <a:pt x="19296" y="10101"/>
                  <a:pt x="19296" y="11499"/>
                  <a:pt x="18906" y="12826"/>
                </a:cubicBezTo>
                <a:lnTo>
                  <a:pt x="21600" y="15160"/>
                </a:lnTo>
                <a:lnTo>
                  <a:pt x="20297" y="17240"/>
                </a:lnTo>
                <a:lnTo>
                  <a:pt x="16757" y="16256"/>
                </a:lnTo>
                <a:cubicBezTo>
                  <a:pt x="15705" y="17232"/>
                  <a:pt x="14391" y="17931"/>
                  <a:pt x="12949" y="18283"/>
                </a:cubicBezTo>
                <a:lnTo>
                  <a:pt x="12103" y="21600"/>
                </a:lnTo>
                <a:lnTo>
                  <a:pt x="9497" y="21600"/>
                </a:lnTo>
                <a:lnTo>
                  <a:pt x="8651" y="18283"/>
                </a:lnTo>
                <a:cubicBezTo>
                  <a:pt x="7209" y="17931"/>
                  <a:pt x="5895" y="17232"/>
                  <a:pt x="4843" y="16256"/>
                </a:cubicBezTo>
                <a:lnTo>
                  <a:pt x="1303" y="17240"/>
                </a:lnTo>
                <a:lnTo>
                  <a:pt x="0" y="15160"/>
                </a:lnTo>
                <a:lnTo>
                  <a:pt x="2694" y="12826"/>
                </a:lnTo>
                <a:cubicBezTo>
                  <a:pt x="2304" y="11499"/>
                  <a:pt x="2304" y="10101"/>
                  <a:pt x="2694" y="8774"/>
                </a:cubicBezTo>
                <a:lnTo>
                  <a:pt x="0" y="6440"/>
                </a:lnTo>
                <a:lnTo>
                  <a:pt x="1303" y="4360"/>
                </a:lnTo>
                <a:lnTo>
                  <a:pt x="4843" y="5344"/>
                </a:lnTo>
                <a:cubicBezTo>
                  <a:pt x="5895" y="4368"/>
                  <a:pt x="7209" y="3669"/>
                  <a:pt x="8651" y="3317"/>
                </a:cubicBezTo>
                <a:lnTo>
                  <a:pt x="9497" y="0"/>
                </a:lnTo>
                <a:lnTo>
                  <a:pt x="12103" y="0"/>
                </a:lnTo>
                <a:lnTo>
                  <a:pt x="12949" y="3317"/>
                </a:lnTo>
                <a:cubicBezTo>
                  <a:pt x="14391" y="3669"/>
                  <a:pt x="15705" y="4368"/>
                  <a:pt x="16757" y="5344"/>
                </a:cubicBezTo>
                <a:close/>
              </a:path>
            </a:pathLst>
          </a:custGeom>
          <a:solidFill>
            <a:srgbClr val="D41B2C">
              <a:alpha val="2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5" name="Star1"/>
          <p:cNvSpPr/>
          <p:nvPr/>
        </p:nvSpPr>
        <p:spPr>
          <a:xfrm>
            <a:off x="8153400" y="2057400"/>
            <a:ext cx="365761" cy="365761"/>
          </a:xfrm>
          <a:prstGeom prst="star5">
            <a:avLst>
              <a:gd name="adj" fmla="val 19098"/>
              <a:gd name="hf" fmla="val 105146"/>
              <a:gd name="vf" fmla="val 110557"/>
            </a:avLst>
          </a:prstGeom>
          <a:solidFill>
            <a:srgbClr val="F39C12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86" name="Heart1"/>
          <p:cNvSpPr/>
          <p:nvPr/>
        </p:nvSpPr>
        <p:spPr>
          <a:xfrm>
            <a:off x="7770900" y="2748297"/>
            <a:ext cx="414481" cy="4063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0657" h="15999" fill="norm" stroke="1" extrusionOk="0">
                <a:moveTo>
                  <a:pt x="5328" y="3849"/>
                </a:moveTo>
                <a:cubicBezTo>
                  <a:pt x="7532" y="-5601"/>
                  <a:pt x="16128" y="3849"/>
                  <a:pt x="5328" y="15999"/>
                </a:cubicBezTo>
                <a:cubicBezTo>
                  <a:pt x="-5472" y="3849"/>
                  <a:pt x="3124" y="-5601"/>
                  <a:pt x="5328" y="3849"/>
                </a:cubicBezTo>
                <a:close/>
              </a:path>
            </a:pathLst>
          </a:custGeom>
          <a:solidFill>
            <a:srgbClr val="D41B2C">
              <a:alpha val="2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  <p:grpSp>
        <p:nvGrpSpPr>
          <p:cNvPr id="490" name="Smiley1"/>
          <p:cNvGrpSpPr/>
          <p:nvPr/>
        </p:nvGrpSpPr>
        <p:grpSpPr>
          <a:xfrm>
            <a:off x="8381999" y="3200399"/>
            <a:ext cx="365762" cy="365762"/>
            <a:chOff x="0" y="0"/>
            <a:chExt cx="365760" cy="365760"/>
          </a:xfrm>
        </p:grpSpPr>
        <p:sp>
          <p:nvSpPr>
            <p:cNvPr id="487" name="Circle"/>
            <p:cNvSpPr/>
            <p:nvPr/>
          </p:nvSpPr>
          <p:spPr>
            <a:xfrm>
              <a:off x="-1" y="-1"/>
              <a:ext cx="365762" cy="365762"/>
            </a:xfrm>
            <a:prstGeom prst="ellipse">
              <a:avLst/>
            </a:prstGeom>
            <a:solidFill>
              <a:srgbClr val="2E86C1">
                <a:alpha val="25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8" name="Shape"/>
            <p:cNvSpPr/>
            <p:nvPr/>
          </p:nvSpPr>
          <p:spPr>
            <a:xfrm>
              <a:off x="105240" y="109135"/>
              <a:ext cx="155279" cy="381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cubicBezTo>
                    <a:pt x="0" y="4835"/>
                    <a:pt x="1186" y="0"/>
                    <a:pt x="2650" y="0"/>
                  </a:cubicBezTo>
                  <a:cubicBezTo>
                    <a:pt x="4113" y="0"/>
                    <a:pt x="5300" y="4835"/>
                    <a:pt x="5300" y="10800"/>
                  </a:cubicBezTo>
                  <a:cubicBezTo>
                    <a:pt x="5300" y="16765"/>
                    <a:pt x="4113" y="21600"/>
                    <a:pt x="2650" y="21600"/>
                  </a:cubicBezTo>
                  <a:cubicBezTo>
                    <a:pt x="1186" y="21600"/>
                    <a:pt x="0" y="16765"/>
                    <a:pt x="0" y="10800"/>
                  </a:cubicBezTo>
                  <a:moveTo>
                    <a:pt x="16300" y="10800"/>
                  </a:moveTo>
                  <a:cubicBezTo>
                    <a:pt x="16300" y="4835"/>
                    <a:pt x="17487" y="0"/>
                    <a:pt x="18950" y="0"/>
                  </a:cubicBezTo>
                  <a:cubicBezTo>
                    <a:pt x="20414" y="0"/>
                    <a:pt x="21600" y="4835"/>
                    <a:pt x="21600" y="10800"/>
                  </a:cubicBezTo>
                  <a:cubicBezTo>
                    <a:pt x="21600" y="16765"/>
                    <a:pt x="20414" y="21600"/>
                    <a:pt x="18950" y="21600"/>
                  </a:cubicBezTo>
                  <a:cubicBezTo>
                    <a:pt x="17487" y="21600"/>
                    <a:pt x="16300" y="16765"/>
                    <a:pt x="16300" y="10800"/>
                  </a:cubicBezTo>
                </a:path>
              </a:pathLst>
            </a:custGeom>
            <a:solidFill>
              <a:srgbClr val="000000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489" name="Shape"/>
            <p:cNvSpPr/>
            <p:nvPr/>
          </p:nvSpPr>
          <p:spPr>
            <a:xfrm>
              <a:off x="-1" y="-1"/>
              <a:ext cx="365762" cy="3657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6215" y="7570"/>
                  </a:moveTo>
                  <a:cubicBezTo>
                    <a:pt x="6215" y="6949"/>
                    <a:pt x="6719" y="6445"/>
                    <a:pt x="7340" y="6445"/>
                  </a:cubicBezTo>
                  <a:cubicBezTo>
                    <a:pt x="7961" y="6445"/>
                    <a:pt x="8465" y="6949"/>
                    <a:pt x="8465" y="7570"/>
                  </a:cubicBezTo>
                  <a:cubicBezTo>
                    <a:pt x="8465" y="8191"/>
                    <a:pt x="7961" y="8695"/>
                    <a:pt x="7340" y="8695"/>
                  </a:cubicBezTo>
                  <a:cubicBezTo>
                    <a:pt x="6719" y="8695"/>
                    <a:pt x="6215" y="8191"/>
                    <a:pt x="6215" y="7570"/>
                  </a:cubicBezTo>
                  <a:moveTo>
                    <a:pt x="13135" y="7570"/>
                  </a:moveTo>
                  <a:cubicBezTo>
                    <a:pt x="13135" y="6949"/>
                    <a:pt x="13639" y="6445"/>
                    <a:pt x="14260" y="6445"/>
                  </a:cubicBezTo>
                  <a:cubicBezTo>
                    <a:pt x="14881" y="6445"/>
                    <a:pt x="15385" y="6949"/>
                    <a:pt x="15385" y="7570"/>
                  </a:cubicBezTo>
                  <a:cubicBezTo>
                    <a:pt x="15385" y="8191"/>
                    <a:pt x="14881" y="8695"/>
                    <a:pt x="14260" y="8695"/>
                  </a:cubicBezTo>
                  <a:cubicBezTo>
                    <a:pt x="13639" y="8695"/>
                    <a:pt x="13135" y="8191"/>
                    <a:pt x="13135" y="7570"/>
                  </a:cubicBezTo>
                  <a:moveTo>
                    <a:pt x="4946" y="15510"/>
                  </a:moveTo>
                  <a:cubicBezTo>
                    <a:pt x="8849" y="18190"/>
                    <a:pt x="12747" y="18190"/>
                    <a:pt x="16640" y="15510"/>
                  </a:cubicBezTo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</a:path>
              </a:pathLst>
            </a:custGeom>
            <a:noFill/>
            <a:ln w="12700" cap="flat">
              <a:solidFill>
                <a:srgbClr val="2E86C1">
                  <a:alpha val="35000"/>
                </a:srgbClr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491" name="Bolt1"/>
          <p:cNvSpPr/>
          <p:nvPr/>
        </p:nvSpPr>
        <p:spPr>
          <a:xfrm>
            <a:off x="7620000" y="3657600"/>
            <a:ext cx="274321" cy="3657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8472" y="0"/>
                </a:moveTo>
                <a:lnTo>
                  <a:pt x="12860" y="6080"/>
                </a:lnTo>
                <a:lnTo>
                  <a:pt x="11050" y="6797"/>
                </a:lnTo>
                <a:lnTo>
                  <a:pt x="16577" y="12007"/>
                </a:lnTo>
                <a:lnTo>
                  <a:pt x="14767" y="12877"/>
                </a:lnTo>
                <a:lnTo>
                  <a:pt x="21600" y="21600"/>
                </a:lnTo>
                <a:lnTo>
                  <a:pt x="10012" y="14915"/>
                </a:lnTo>
                <a:lnTo>
                  <a:pt x="12222" y="13987"/>
                </a:lnTo>
                <a:lnTo>
                  <a:pt x="5022" y="9705"/>
                </a:lnTo>
                <a:lnTo>
                  <a:pt x="7602" y="8382"/>
                </a:lnTo>
                <a:lnTo>
                  <a:pt x="0" y="3890"/>
                </a:lnTo>
                <a:close/>
              </a:path>
            </a:pathLst>
          </a:custGeom>
          <a:solidFill>
            <a:srgbClr val="F39C12">
              <a:alpha val="25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31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Shape 0"/>
          <p:cNvSpPr/>
          <p:nvPr/>
        </p:nvSpPr>
        <p:spPr>
          <a:xfrm>
            <a:off x="0" y="-1"/>
            <a:ext cx="9144000" cy="50294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pic>
        <p:nvPicPr>
          <p:cNvPr id="494" name="Image 0" descr="Image 0"/>
          <p:cNvPicPr>
            <a:picLocks noChangeAspect="1"/>
          </p:cNvPicPr>
          <p:nvPr/>
        </p:nvPicPr>
        <p:blipFill>
          <a:blip r:embed="rId2">
            <a:alphaModFix amt="10000"/>
            <a:extLst/>
          </a:blip>
          <a:stretch>
            <a:fillRect/>
          </a:stretch>
        </p:blipFill>
        <p:spPr>
          <a:xfrm>
            <a:off x="6675119" y="914400"/>
            <a:ext cx="2743201" cy="2743200"/>
          </a:xfrm>
          <a:prstGeom prst="rect">
            <a:avLst/>
          </a:prstGeom>
          <a:ln w="12700">
            <a:miter lim="400000"/>
          </a:ln>
        </p:spPr>
      </p:pic>
      <p:sp>
        <p:nvSpPr>
          <p:cNvPr id="495" name="Text 1"/>
          <p:cNvSpPr txBox="1"/>
          <p:nvPr/>
        </p:nvSpPr>
        <p:spPr>
          <a:xfrm>
            <a:off x="502919" y="1221740"/>
            <a:ext cx="7315201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800">
                <a:solidFill>
                  <a:srgbClr val="FFFFF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Thank You!</a:t>
            </a:r>
          </a:p>
        </p:txBody>
      </p:sp>
      <p:sp>
        <p:nvSpPr>
          <p:cNvPr id="496" name="Text 2"/>
          <p:cNvSpPr txBox="1"/>
          <p:nvPr/>
        </p:nvSpPr>
        <p:spPr>
          <a:xfrm>
            <a:off x="502919" y="2334259"/>
            <a:ext cx="73152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800">
                <a:solidFill>
                  <a:srgbClr val="D41B2C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</a:lstStyle>
          <a:p>
            <a:pPr/>
            <a:r>
              <a:t>Questions?</a:t>
            </a:r>
          </a:p>
        </p:txBody>
      </p:sp>
      <p:sp>
        <p:nvSpPr>
          <p:cNvPr id="497" name="Shape 3"/>
          <p:cNvSpPr/>
          <p:nvPr/>
        </p:nvSpPr>
        <p:spPr>
          <a:xfrm>
            <a:off x="502919" y="3108960"/>
            <a:ext cx="2103122" cy="13717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8" name="Shape 4"/>
          <p:cNvSpPr/>
          <p:nvPr/>
        </p:nvSpPr>
        <p:spPr>
          <a:xfrm>
            <a:off x="2697479" y="3108960"/>
            <a:ext cx="640081" cy="13717"/>
          </a:xfrm>
          <a:prstGeom prst="rect">
            <a:avLst/>
          </a:prstGeom>
          <a:solidFill>
            <a:srgbClr val="D9770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99" name="Shape 6"/>
          <p:cNvSpPr/>
          <p:nvPr/>
        </p:nvSpPr>
        <p:spPr>
          <a:xfrm>
            <a:off x="502919" y="4160520"/>
            <a:ext cx="8138161" cy="475489"/>
          </a:xfrm>
          <a:prstGeom prst="roundRect">
            <a:avLst>
              <a:gd name="adj" fmla="val 11538"/>
            </a:avLst>
          </a:prstGeom>
          <a:solidFill>
            <a:srgbClr val="1E1E2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500" name="Text 7"/>
          <p:cNvSpPr txBox="1"/>
          <p:nvPr/>
        </p:nvSpPr>
        <p:spPr>
          <a:xfrm>
            <a:off x="731519" y="4285409"/>
            <a:ext cx="768096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i="1" sz="1100">
                <a:solidFill>
                  <a:srgbClr val="FFFFFF"/>
                </a:solidFill>
              </a:defRPr>
            </a:lvl1pPr>
          </a:lstStyle>
          <a:p>
            <a:pPr/>
            <a:r>
              <a:t>The best way to learn Python is to pick a dataset from your own research and try it!</a:t>
            </a:r>
          </a:p>
        </p:txBody>
      </p:sp>
      <p:sp>
        <p:nvSpPr>
          <p:cNvPr id="501" name="Shape 8"/>
          <p:cNvSpPr/>
          <p:nvPr/>
        </p:nvSpPr>
        <p:spPr>
          <a:xfrm>
            <a:off x="0" y="4983479"/>
            <a:ext cx="9144000" cy="160021"/>
          </a:xfrm>
          <a:prstGeom prst="rect">
            <a:avLst/>
          </a:prstGeom>
          <a:solidFill>
            <a:srgbClr val="D41B2C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